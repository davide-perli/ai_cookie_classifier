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61" r:id="rId4"/>
    <p:sldId id="263" r:id="rId5"/>
    <p:sldId id="264" r:id="rId6"/>
    <p:sldId id="258" r:id="rId7"/>
    <p:sldId id="259" r:id="rId8"/>
    <p:sldId id="260" r:id="rId9"/>
    <p:sldId id="265" r:id="rId10"/>
    <p:sldId id="266" r:id="rId11"/>
    <p:sldId id="267" r:id="rId12"/>
    <p:sldId id="268" r:id="rId13"/>
    <p:sldId id="269" r:id="rId14"/>
    <p:sldId id="270" r:id="rId15"/>
    <p:sldId id="271" r:id="rId16"/>
    <p:sldId id="272" r:id="rId17"/>
    <p:sldId id="273"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8" d="100"/>
          <a:sy n="68" d="100"/>
        </p:scale>
        <p:origin x="61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AA466E-39B5-4C10-B600-8A7969289383}"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31F55-F291-45F0-BA02-D29AA47B754A}" type="slidenum">
              <a:rPr lang="en-US" smtClean="0"/>
              <a:t>‹#›</a:t>
            </a:fld>
            <a:endParaRPr lang="en-US"/>
          </a:p>
        </p:txBody>
      </p:sp>
    </p:spTree>
    <p:extLst>
      <p:ext uri="{BB962C8B-B14F-4D97-AF65-F5344CB8AC3E}">
        <p14:creationId xmlns:p14="http://schemas.microsoft.com/office/powerpoint/2010/main" val="3021400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AA466E-39B5-4C10-B600-8A7969289383}"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31F55-F291-45F0-BA02-D29AA47B754A}" type="slidenum">
              <a:rPr lang="en-US" smtClean="0"/>
              <a:t>‹#›</a:t>
            </a:fld>
            <a:endParaRPr lang="en-US"/>
          </a:p>
        </p:txBody>
      </p:sp>
    </p:spTree>
    <p:extLst>
      <p:ext uri="{BB962C8B-B14F-4D97-AF65-F5344CB8AC3E}">
        <p14:creationId xmlns:p14="http://schemas.microsoft.com/office/powerpoint/2010/main" val="1006759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AA466E-39B5-4C10-B600-8A7969289383}"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31F55-F291-45F0-BA02-D29AA47B754A}" type="slidenum">
              <a:rPr lang="en-US" smtClean="0"/>
              <a:t>‹#›</a:t>
            </a:fld>
            <a:endParaRPr lang="en-US"/>
          </a:p>
        </p:txBody>
      </p:sp>
    </p:spTree>
    <p:extLst>
      <p:ext uri="{BB962C8B-B14F-4D97-AF65-F5344CB8AC3E}">
        <p14:creationId xmlns:p14="http://schemas.microsoft.com/office/powerpoint/2010/main" val="1746138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AA466E-39B5-4C10-B600-8A7969289383}"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931F55-F291-45F0-BA02-D29AA47B754A}" type="slidenum">
              <a:rPr lang="en-US" smtClean="0"/>
              <a:t>‹#›</a:t>
            </a:fld>
            <a:endParaRPr lang="en-US"/>
          </a:p>
        </p:txBody>
      </p:sp>
    </p:spTree>
    <p:extLst>
      <p:ext uri="{BB962C8B-B14F-4D97-AF65-F5344CB8AC3E}">
        <p14:creationId xmlns:p14="http://schemas.microsoft.com/office/powerpoint/2010/main" val="3491064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AA466E-39B5-4C10-B600-8A7969289383}"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931F55-F291-45F0-BA02-D29AA47B754A}" type="slidenum">
              <a:rPr lang="en-US" smtClean="0"/>
              <a:t>‹#›</a:t>
            </a:fld>
            <a:endParaRPr lang="en-US"/>
          </a:p>
        </p:txBody>
      </p:sp>
    </p:spTree>
    <p:extLst>
      <p:ext uri="{BB962C8B-B14F-4D97-AF65-F5344CB8AC3E}">
        <p14:creationId xmlns:p14="http://schemas.microsoft.com/office/powerpoint/2010/main" val="3205684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AA466E-39B5-4C10-B600-8A7969289383}"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931F55-F291-45F0-BA02-D29AA47B754A}" type="slidenum">
              <a:rPr lang="en-US" smtClean="0"/>
              <a:t>‹#›</a:t>
            </a:fld>
            <a:endParaRPr lang="en-US"/>
          </a:p>
        </p:txBody>
      </p:sp>
    </p:spTree>
    <p:extLst>
      <p:ext uri="{BB962C8B-B14F-4D97-AF65-F5344CB8AC3E}">
        <p14:creationId xmlns:p14="http://schemas.microsoft.com/office/powerpoint/2010/main" val="1459936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AA466E-39B5-4C10-B600-8A7969289383}"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931F55-F291-45F0-BA02-D29AA47B754A}" type="slidenum">
              <a:rPr lang="en-US" smtClean="0"/>
              <a:t>‹#›</a:t>
            </a:fld>
            <a:endParaRPr lang="en-US"/>
          </a:p>
        </p:txBody>
      </p:sp>
    </p:spTree>
    <p:extLst>
      <p:ext uri="{BB962C8B-B14F-4D97-AF65-F5344CB8AC3E}">
        <p14:creationId xmlns:p14="http://schemas.microsoft.com/office/powerpoint/2010/main" val="2239533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AA466E-39B5-4C10-B600-8A7969289383}"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931F55-F291-45F0-BA02-D29AA47B754A}" type="slidenum">
              <a:rPr lang="en-US" smtClean="0"/>
              <a:t>‹#›</a:t>
            </a:fld>
            <a:endParaRPr lang="en-US"/>
          </a:p>
        </p:txBody>
      </p:sp>
    </p:spTree>
    <p:extLst>
      <p:ext uri="{BB962C8B-B14F-4D97-AF65-F5344CB8AC3E}">
        <p14:creationId xmlns:p14="http://schemas.microsoft.com/office/powerpoint/2010/main" val="680939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AA466E-39B5-4C10-B600-8A7969289383}"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931F55-F291-45F0-BA02-D29AA47B754A}" type="slidenum">
              <a:rPr lang="en-US" smtClean="0"/>
              <a:t>‹#›</a:t>
            </a:fld>
            <a:endParaRPr lang="en-US"/>
          </a:p>
        </p:txBody>
      </p:sp>
    </p:spTree>
    <p:extLst>
      <p:ext uri="{BB962C8B-B14F-4D97-AF65-F5344CB8AC3E}">
        <p14:creationId xmlns:p14="http://schemas.microsoft.com/office/powerpoint/2010/main" val="1266057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AA466E-39B5-4C10-B600-8A7969289383}"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31F55-F291-45F0-BA02-D29AA47B754A}" type="slidenum">
              <a:rPr lang="en-US" smtClean="0"/>
              <a:t>‹#›</a:t>
            </a:fld>
            <a:endParaRPr lang="en-US"/>
          </a:p>
        </p:txBody>
      </p:sp>
    </p:spTree>
    <p:extLst>
      <p:ext uri="{BB962C8B-B14F-4D97-AF65-F5344CB8AC3E}">
        <p14:creationId xmlns:p14="http://schemas.microsoft.com/office/powerpoint/2010/main" val="3194654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AA466E-39B5-4C10-B600-8A7969289383}"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31F55-F291-45F0-BA02-D29AA47B754A}"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77059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AA466E-39B5-4C10-B600-8A7969289383}"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31F55-F291-45F0-BA02-D29AA47B754A}" type="slidenum">
              <a:rPr lang="en-US" smtClean="0"/>
              <a:t>‹#›</a:t>
            </a:fld>
            <a:endParaRPr lang="en-US"/>
          </a:p>
        </p:txBody>
      </p:sp>
    </p:spTree>
    <p:extLst>
      <p:ext uri="{BB962C8B-B14F-4D97-AF65-F5344CB8AC3E}">
        <p14:creationId xmlns:p14="http://schemas.microsoft.com/office/powerpoint/2010/main" val="33204975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AA466E-39B5-4C10-B600-8A7969289383}"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31F55-F291-45F0-BA02-D29AA47B754A}"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734712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AA466E-39B5-4C10-B600-8A7969289383}"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31F55-F291-45F0-BA02-D29AA47B754A}" type="slidenum">
              <a:rPr lang="en-US" smtClean="0"/>
              <a:t>‹#›</a:t>
            </a:fld>
            <a:endParaRPr lang="en-US"/>
          </a:p>
        </p:txBody>
      </p:sp>
    </p:spTree>
    <p:extLst>
      <p:ext uri="{BB962C8B-B14F-4D97-AF65-F5344CB8AC3E}">
        <p14:creationId xmlns:p14="http://schemas.microsoft.com/office/powerpoint/2010/main" val="37040856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AA466E-39B5-4C10-B600-8A7969289383}"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31F55-F291-45F0-BA02-D29AA47B754A}" type="slidenum">
              <a:rPr lang="en-US" smtClean="0"/>
              <a:t>‹#›</a:t>
            </a:fld>
            <a:endParaRPr lang="en-US"/>
          </a:p>
        </p:txBody>
      </p:sp>
    </p:spTree>
    <p:extLst>
      <p:ext uri="{BB962C8B-B14F-4D97-AF65-F5344CB8AC3E}">
        <p14:creationId xmlns:p14="http://schemas.microsoft.com/office/powerpoint/2010/main" val="13795893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AA466E-39B5-4C10-B600-8A7969289383}"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31F55-F291-45F0-BA02-D29AA47B754A}" type="slidenum">
              <a:rPr lang="en-US" smtClean="0"/>
              <a:t>‹#›</a:t>
            </a:fld>
            <a:endParaRPr lang="en-US"/>
          </a:p>
        </p:txBody>
      </p:sp>
    </p:spTree>
    <p:extLst>
      <p:ext uri="{BB962C8B-B14F-4D97-AF65-F5344CB8AC3E}">
        <p14:creationId xmlns:p14="http://schemas.microsoft.com/office/powerpoint/2010/main" val="3545757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7AA466E-39B5-4C10-B600-8A7969289383}" type="datetimeFigureOut">
              <a:rPr lang="en-US" smtClean="0"/>
              <a:t>5/6/2026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F931F55-F291-45F0-BA02-D29AA47B754A}" type="slidenum">
              <a:rPr lang="en-US" smtClean="0"/>
              <a:t>‹#›</a:t>
            </a:fld>
            <a:endParaRPr lang="en-US"/>
          </a:p>
        </p:txBody>
      </p:sp>
    </p:spTree>
    <p:extLst>
      <p:ext uri="{BB962C8B-B14F-4D97-AF65-F5344CB8AC3E}">
        <p14:creationId xmlns:p14="http://schemas.microsoft.com/office/powerpoint/2010/main" val="1096532790"/>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gdpr.eu/cookie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research-collection.ethz.ch/server/api/core/bitstreams/72f5e7ed-4d01-4174-8b19-795e1d5ba7db/conten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B2D2C-D179-5170-3866-056B6D065F2F}"/>
              </a:ext>
            </a:extLst>
          </p:cNvPr>
          <p:cNvSpPr>
            <a:spLocks noGrp="1"/>
          </p:cNvSpPr>
          <p:nvPr>
            <p:ph type="ctrTitle"/>
          </p:nvPr>
        </p:nvSpPr>
        <p:spPr/>
        <p:txBody>
          <a:bodyPr/>
          <a:lstStyle/>
          <a:p>
            <a:r>
              <a:rPr lang="en-US" dirty="0"/>
              <a:t>AI Cookie Classifier</a:t>
            </a:r>
          </a:p>
        </p:txBody>
      </p:sp>
      <p:sp>
        <p:nvSpPr>
          <p:cNvPr id="3" name="Subtitle 2">
            <a:extLst>
              <a:ext uri="{FF2B5EF4-FFF2-40B4-BE49-F238E27FC236}">
                <a16:creationId xmlns:a16="http://schemas.microsoft.com/office/drawing/2014/main" id="{EC89C920-E3FA-4B76-58DE-BFC3F8C4F2DF}"/>
              </a:ext>
            </a:extLst>
          </p:cNvPr>
          <p:cNvSpPr>
            <a:spLocks noGrp="1"/>
          </p:cNvSpPr>
          <p:nvPr>
            <p:ph type="subTitle" idx="1"/>
          </p:nvPr>
        </p:nvSpPr>
        <p:spPr/>
        <p:txBody>
          <a:bodyPr/>
          <a:lstStyle/>
          <a:p>
            <a:r>
              <a:rPr lang="en-US" dirty="0"/>
              <a:t>Perli Davide Andrea</a:t>
            </a:r>
          </a:p>
        </p:txBody>
      </p:sp>
    </p:spTree>
    <p:extLst>
      <p:ext uri="{BB962C8B-B14F-4D97-AF65-F5344CB8AC3E}">
        <p14:creationId xmlns:p14="http://schemas.microsoft.com/office/powerpoint/2010/main" val="3741307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1451A-72F6-8DAA-ED15-B52CB6A256A1}"/>
              </a:ext>
            </a:extLst>
          </p:cNvPr>
          <p:cNvSpPr>
            <a:spLocks noGrp="1"/>
          </p:cNvSpPr>
          <p:nvPr>
            <p:ph type="title"/>
          </p:nvPr>
        </p:nvSpPr>
        <p:spPr/>
        <p:txBody>
          <a:bodyPr/>
          <a:lstStyle/>
          <a:p>
            <a:r>
              <a:rPr lang="en-US" dirty="0" err="1"/>
              <a:t>Prezentare</a:t>
            </a:r>
            <a:r>
              <a:rPr lang="en-US" dirty="0"/>
              <a:t> </a:t>
            </a:r>
            <a:r>
              <a:rPr lang="en-US" dirty="0" err="1"/>
              <a:t>MidTerm</a:t>
            </a:r>
            <a:endParaRPr lang="en-US" dirty="0"/>
          </a:p>
        </p:txBody>
      </p:sp>
      <p:sp>
        <p:nvSpPr>
          <p:cNvPr id="3" name="Content Placeholder 2">
            <a:extLst>
              <a:ext uri="{FF2B5EF4-FFF2-40B4-BE49-F238E27FC236}">
                <a16:creationId xmlns:a16="http://schemas.microsoft.com/office/drawing/2014/main" id="{B4E36CF0-B291-8412-34D4-5912119F0CC6}"/>
              </a:ext>
            </a:extLst>
          </p:cNvPr>
          <p:cNvSpPr>
            <a:spLocks noGrp="1"/>
          </p:cNvSpPr>
          <p:nvPr>
            <p:ph idx="1"/>
          </p:nvPr>
        </p:nvSpPr>
        <p:spPr/>
        <p:txBody>
          <a:bodyPr/>
          <a:lstStyle/>
          <a:p>
            <a:r>
              <a:rPr lang="en-US" dirty="0" err="1"/>
              <a:t>Scopul</a:t>
            </a:r>
            <a:r>
              <a:rPr lang="en-US" dirty="0"/>
              <a:t> </a:t>
            </a:r>
            <a:r>
              <a:rPr lang="en-US" dirty="0" err="1"/>
              <a:t>proiectului</a:t>
            </a:r>
            <a:endParaRPr lang="en-US" dirty="0"/>
          </a:p>
          <a:p>
            <a:r>
              <a:rPr lang="en-US" dirty="0" err="1"/>
              <a:t>Necesitate</a:t>
            </a:r>
            <a:r>
              <a:rPr lang="ro-RO" dirty="0"/>
              <a:t>a</a:t>
            </a:r>
            <a:r>
              <a:rPr lang="en-US" dirty="0"/>
              <a:t> </a:t>
            </a:r>
            <a:r>
              <a:rPr lang="en-US" dirty="0" err="1"/>
              <a:t>clasific</a:t>
            </a:r>
            <a:r>
              <a:rPr lang="ro-RO" dirty="0"/>
              <a:t>ă</a:t>
            </a:r>
            <a:r>
              <a:rPr lang="en-US" dirty="0" err="1"/>
              <a:t>rii</a:t>
            </a:r>
            <a:r>
              <a:rPr lang="en-US" dirty="0"/>
              <a:t> </a:t>
            </a:r>
            <a:r>
              <a:rPr lang="ro-RO" dirty="0"/>
              <a:t>ș</a:t>
            </a:r>
            <a:r>
              <a:rPr lang="en-US" dirty="0" err="1"/>
              <a:t>i</a:t>
            </a:r>
            <a:r>
              <a:rPr lang="en-US" dirty="0"/>
              <a:t> bloc</a:t>
            </a:r>
            <a:r>
              <a:rPr lang="ro-RO" dirty="0"/>
              <a:t>ă</a:t>
            </a:r>
            <a:r>
              <a:rPr lang="en-US" dirty="0" err="1"/>
              <a:t>rii</a:t>
            </a:r>
            <a:r>
              <a:rPr lang="en-US" dirty="0"/>
              <a:t> cookie-</a:t>
            </a:r>
            <a:r>
              <a:rPr lang="en-US" dirty="0" err="1"/>
              <a:t>urilor</a:t>
            </a:r>
            <a:endParaRPr lang="en-US" dirty="0"/>
          </a:p>
          <a:p>
            <a:r>
              <a:rPr lang="en-US" dirty="0" err="1"/>
              <a:t>Cercet</a:t>
            </a:r>
            <a:r>
              <a:rPr lang="ro-RO" dirty="0"/>
              <a:t>ă</a:t>
            </a:r>
            <a:r>
              <a:rPr lang="en-US" dirty="0" err="1"/>
              <a:t>ri</a:t>
            </a:r>
            <a:r>
              <a:rPr lang="en-US" dirty="0"/>
              <a:t> </a:t>
            </a:r>
            <a:r>
              <a:rPr lang="en-US" dirty="0" err="1"/>
              <a:t>anterioare</a:t>
            </a:r>
            <a:endParaRPr lang="en-US" dirty="0"/>
          </a:p>
          <a:p>
            <a:r>
              <a:rPr lang="en-US" dirty="0"/>
              <a:t>De </a:t>
            </a:r>
            <a:r>
              <a:rPr lang="en-US" dirty="0" err="1"/>
              <a:t>ce</a:t>
            </a:r>
            <a:r>
              <a:rPr lang="en-US" dirty="0"/>
              <a:t> Machine Learning </a:t>
            </a:r>
            <a:r>
              <a:rPr lang="en-US" dirty="0" err="1"/>
              <a:t>pentru</a:t>
            </a:r>
            <a:r>
              <a:rPr lang="en-US" dirty="0"/>
              <a:t> a </a:t>
            </a:r>
            <a:r>
              <a:rPr lang="en-US" dirty="0" err="1"/>
              <a:t>clasifica</a:t>
            </a:r>
            <a:r>
              <a:rPr lang="en-US" dirty="0"/>
              <a:t> cookie-</a:t>
            </a:r>
            <a:r>
              <a:rPr lang="en-US" dirty="0" err="1"/>
              <a:t>uri</a:t>
            </a:r>
            <a:r>
              <a:rPr lang="en-US" dirty="0"/>
              <a:t> ?</a:t>
            </a:r>
          </a:p>
          <a:p>
            <a:r>
              <a:rPr lang="en-US" dirty="0"/>
              <a:t>Data Gathering</a:t>
            </a:r>
          </a:p>
          <a:p>
            <a:r>
              <a:rPr lang="ro-RO" dirty="0"/>
              <a:t>Data Distribution</a:t>
            </a:r>
            <a:endParaRPr lang="en-US" dirty="0"/>
          </a:p>
          <a:p>
            <a:r>
              <a:rPr lang="en-US" dirty="0"/>
              <a:t>Machine Learning Models</a:t>
            </a:r>
            <a:endParaRPr lang="ro-RO" dirty="0"/>
          </a:p>
          <a:p>
            <a:r>
              <a:rPr lang="ro-RO" dirty="0"/>
              <a:t>Rezultate</a:t>
            </a:r>
            <a:endParaRPr lang="en-US" dirty="0"/>
          </a:p>
          <a:p>
            <a:r>
              <a:rPr lang="ro-RO" dirty="0"/>
              <a:t>Conlcuzii și îmbunătățiri</a:t>
            </a:r>
            <a:endParaRPr lang="en-US" dirty="0"/>
          </a:p>
        </p:txBody>
      </p:sp>
    </p:spTree>
    <p:extLst>
      <p:ext uri="{BB962C8B-B14F-4D97-AF65-F5344CB8AC3E}">
        <p14:creationId xmlns:p14="http://schemas.microsoft.com/office/powerpoint/2010/main" val="142047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B7559-F88F-6C82-E490-101079470526}"/>
              </a:ext>
            </a:extLst>
          </p:cNvPr>
          <p:cNvSpPr>
            <a:spLocks noGrp="1"/>
          </p:cNvSpPr>
          <p:nvPr>
            <p:ph type="title"/>
          </p:nvPr>
        </p:nvSpPr>
        <p:spPr>
          <a:xfrm>
            <a:off x="677333" y="609600"/>
            <a:ext cx="9465907" cy="1320800"/>
          </a:xfrm>
        </p:spPr>
        <p:txBody>
          <a:bodyPr>
            <a:normAutofit fontScale="90000"/>
          </a:bodyPr>
          <a:lstStyle/>
          <a:p>
            <a:r>
              <a:rPr lang="en-US" dirty="0" err="1"/>
              <a:t>Necesitatea</a:t>
            </a:r>
            <a:r>
              <a:rPr lang="en-US" dirty="0"/>
              <a:t> </a:t>
            </a:r>
            <a:r>
              <a:rPr lang="en-US" dirty="0" err="1"/>
              <a:t>clasific</a:t>
            </a:r>
            <a:r>
              <a:rPr lang="ro-RO" dirty="0"/>
              <a:t>ă</a:t>
            </a:r>
            <a:r>
              <a:rPr lang="en-US" dirty="0" err="1"/>
              <a:t>rii</a:t>
            </a:r>
            <a:r>
              <a:rPr lang="en-US" dirty="0"/>
              <a:t> </a:t>
            </a:r>
            <a:r>
              <a:rPr lang="ro-RO" dirty="0"/>
              <a:t>ș</a:t>
            </a:r>
            <a:r>
              <a:rPr lang="en-US" dirty="0" err="1"/>
              <a:t>i</a:t>
            </a:r>
            <a:r>
              <a:rPr lang="en-US" dirty="0"/>
              <a:t> bloc</a:t>
            </a:r>
            <a:r>
              <a:rPr lang="ro-RO" dirty="0"/>
              <a:t>ă</a:t>
            </a:r>
            <a:r>
              <a:rPr lang="en-US" dirty="0" err="1"/>
              <a:t>rii</a:t>
            </a:r>
            <a:r>
              <a:rPr lang="en-US" dirty="0"/>
              <a:t> cookie-</a:t>
            </a:r>
            <a:r>
              <a:rPr lang="en-US" dirty="0" err="1"/>
              <a:t>urilor</a:t>
            </a:r>
            <a:br>
              <a:rPr lang="en-US" dirty="0"/>
            </a:br>
            <a:endParaRPr lang="en-US" dirty="0"/>
          </a:p>
        </p:txBody>
      </p:sp>
      <p:sp>
        <p:nvSpPr>
          <p:cNvPr id="3" name="Content Placeholder 2">
            <a:extLst>
              <a:ext uri="{FF2B5EF4-FFF2-40B4-BE49-F238E27FC236}">
                <a16:creationId xmlns:a16="http://schemas.microsoft.com/office/drawing/2014/main" id="{8589E9C1-6160-996A-6906-86E4E15D3D4B}"/>
              </a:ext>
            </a:extLst>
          </p:cNvPr>
          <p:cNvSpPr>
            <a:spLocks noGrp="1"/>
          </p:cNvSpPr>
          <p:nvPr>
            <p:ph idx="1"/>
          </p:nvPr>
        </p:nvSpPr>
        <p:spPr>
          <a:xfrm>
            <a:off x="103694" y="1564849"/>
            <a:ext cx="9068586" cy="4506013"/>
          </a:xfrm>
        </p:spPr>
        <p:txBody>
          <a:bodyPr>
            <a:normAutofit lnSpcReduction="10000"/>
          </a:bodyPr>
          <a:lstStyle/>
          <a:p>
            <a:r>
              <a:rPr lang="en-US" dirty="0"/>
              <a:t>Cookie-urile pot </a:t>
            </a:r>
            <a:r>
              <a:rPr lang="en-US" dirty="0" err="1"/>
              <a:t>părea</a:t>
            </a:r>
            <a:r>
              <a:rPr lang="en-US" dirty="0"/>
              <a:t> </a:t>
            </a:r>
            <a:r>
              <a:rPr lang="en-US" dirty="0" err="1"/>
              <a:t>inofensive</a:t>
            </a:r>
            <a:r>
              <a:rPr lang="en-US" dirty="0"/>
              <a:t>; </a:t>
            </a:r>
            <a:r>
              <a:rPr lang="en-US" dirty="0" err="1"/>
              <a:t>în</a:t>
            </a:r>
            <a:r>
              <a:rPr lang="en-US" dirty="0"/>
              <a:t> </a:t>
            </a:r>
            <a:r>
              <a:rPr lang="en-US" dirty="0" err="1"/>
              <a:t>realitate</a:t>
            </a:r>
            <a:r>
              <a:rPr lang="en-US" dirty="0"/>
              <a:t>, </a:t>
            </a:r>
            <a:r>
              <a:rPr lang="en-US" dirty="0" err="1"/>
              <a:t>însă</a:t>
            </a:r>
            <a:r>
              <a:rPr lang="en-US" dirty="0"/>
              <a:t>, </a:t>
            </a:r>
            <a:r>
              <a:rPr lang="en-US" dirty="0" err="1"/>
              <a:t>capacitatea</a:t>
            </a:r>
            <a:r>
              <a:rPr lang="en-US" dirty="0"/>
              <a:t> lor de </a:t>
            </a:r>
            <a:r>
              <a:rPr lang="en-US" dirty="0" err="1"/>
              <a:t>colectare</a:t>
            </a:r>
            <a:r>
              <a:rPr lang="en-US" dirty="0"/>
              <a:t> a </a:t>
            </a:r>
            <a:r>
              <a:rPr lang="en-US" dirty="0" err="1"/>
              <a:t>datelor</a:t>
            </a:r>
            <a:r>
              <a:rPr lang="en-US" dirty="0"/>
              <a:t> </a:t>
            </a:r>
            <a:r>
              <a:rPr lang="en-US" dirty="0" err="1"/>
              <a:t>este</a:t>
            </a:r>
            <a:r>
              <a:rPr lang="en-US" dirty="0"/>
              <a:t> </a:t>
            </a:r>
            <a:r>
              <a:rPr lang="en-US" dirty="0" err="1"/>
              <a:t>semnificativă</a:t>
            </a:r>
            <a:r>
              <a:rPr lang="en-US" dirty="0"/>
              <a:t>. </a:t>
            </a:r>
            <a:r>
              <a:rPr lang="en-US" dirty="0" err="1"/>
              <a:t>Chiar</a:t>
            </a:r>
            <a:r>
              <a:rPr lang="en-US" dirty="0"/>
              <a:t> </a:t>
            </a:r>
            <a:r>
              <a:rPr lang="en-US" dirty="0" err="1"/>
              <a:t>și</a:t>
            </a:r>
            <a:r>
              <a:rPr lang="en-US" dirty="0"/>
              <a:t> cookie-urile de </a:t>
            </a:r>
            <a:r>
              <a:rPr lang="en-US" dirty="0" err="1"/>
              <a:t>bază</a:t>
            </a:r>
            <a:r>
              <a:rPr lang="en-US" dirty="0"/>
              <a:t> pot </a:t>
            </a:r>
            <a:r>
              <a:rPr lang="en-US" dirty="0" err="1"/>
              <a:t>înregistra</a:t>
            </a:r>
            <a:r>
              <a:rPr lang="en-US" dirty="0"/>
              <a:t> o </a:t>
            </a:r>
            <a:r>
              <a:rPr lang="en-US" dirty="0" err="1"/>
              <a:t>varietate</a:t>
            </a:r>
            <a:r>
              <a:rPr lang="en-US" dirty="0"/>
              <a:t> de </a:t>
            </a:r>
            <a:r>
              <a:rPr lang="en-US" dirty="0" err="1"/>
              <a:t>informații</a:t>
            </a:r>
            <a:r>
              <a:rPr lang="en-US" dirty="0"/>
              <a:t> </a:t>
            </a:r>
            <a:r>
              <a:rPr lang="en-US" dirty="0" err="1"/>
              <a:t>despre</a:t>
            </a:r>
            <a:r>
              <a:rPr lang="en-US" dirty="0"/>
              <a:t> </a:t>
            </a:r>
            <a:r>
              <a:rPr lang="en-US" dirty="0" err="1"/>
              <a:t>utilizatori</a:t>
            </a:r>
            <a:r>
              <a:rPr lang="en-US" dirty="0"/>
              <a:t>. </a:t>
            </a:r>
          </a:p>
          <a:p>
            <a:r>
              <a:rPr lang="en-US" dirty="0"/>
              <a:t>De </a:t>
            </a:r>
            <a:r>
              <a:rPr lang="en-US" dirty="0" err="1"/>
              <a:t>exemplu</a:t>
            </a:r>
            <a:r>
              <a:rPr lang="en-US" dirty="0"/>
              <a:t>, </a:t>
            </a:r>
            <a:r>
              <a:rPr lang="en-US" dirty="0" err="1"/>
              <a:t>prin</a:t>
            </a:r>
            <a:r>
              <a:rPr lang="en-US" dirty="0"/>
              <a:t> </a:t>
            </a:r>
            <a:r>
              <a:rPr lang="en-US" dirty="0" err="1"/>
              <a:t>intermediul</a:t>
            </a:r>
            <a:r>
              <a:rPr lang="en-US" dirty="0"/>
              <a:t> </a:t>
            </a:r>
            <a:r>
              <a:rPr lang="en-US" dirty="0" err="1"/>
              <a:t>adresei</a:t>
            </a:r>
            <a:r>
              <a:rPr lang="en-US" dirty="0"/>
              <a:t> IP se </a:t>
            </a:r>
            <a:r>
              <a:rPr lang="en-US" dirty="0" err="1"/>
              <a:t>poate</a:t>
            </a:r>
            <a:r>
              <a:rPr lang="en-US" dirty="0"/>
              <a:t> </a:t>
            </a:r>
            <a:r>
              <a:rPr lang="en-US" dirty="0" err="1"/>
              <a:t>determina</a:t>
            </a:r>
            <a:r>
              <a:rPr lang="en-US" dirty="0"/>
              <a:t> </a:t>
            </a:r>
            <a:r>
              <a:rPr lang="en-US" dirty="0" err="1"/>
              <a:t>locația</a:t>
            </a:r>
            <a:r>
              <a:rPr lang="en-US" dirty="0"/>
              <a:t> </a:t>
            </a:r>
            <a:r>
              <a:rPr lang="en-US" dirty="0" err="1"/>
              <a:t>relativă</a:t>
            </a:r>
            <a:r>
              <a:rPr lang="en-US" dirty="0"/>
              <a:t> (</a:t>
            </a:r>
            <a:r>
              <a:rPr lang="en-US" dirty="0" err="1"/>
              <a:t>inclusiv</a:t>
            </a:r>
            <a:r>
              <a:rPr lang="en-US" dirty="0"/>
              <a:t> </a:t>
            </a:r>
            <a:r>
              <a:rPr lang="en-US" dirty="0" err="1"/>
              <a:t>țara</a:t>
            </a:r>
            <a:r>
              <a:rPr lang="en-US" dirty="0"/>
              <a:t> </a:t>
            </a:r>
            <a:r>
              <a:rPr lang="en-US" dirty="0" err="1"/>
              <a:t>și</a:t>
            </a:r>
            <a:r>
              <a:rPr lang="en-US" dirty="0"/>
              <a:t>, </a:t>
            </a:r>
            <a:r>
              <a:rPr lang="en-US" dirty="0" err="1"/>
              <a:t>adesea</a:t>
            </a:r>
            <a:r>
              <a:rPr lang="en-US" dirty="0"/>
              <a:t>, </a:t>
            </a:r>
            <a:r>
              <a:rPr lang="en-US" dirty="0" err="1"/>
              <a:t>regiunea</a:t>
            </a:r>
            <a:r>
              <a:rPr lang="en-US" dirty="0"/>
              <a:t>), precum </a:t>
            </a:r>
            <a:r>
              <a:rPr lang="en-US" dirty="0" err="1"/>
              <a:t>și</a:t>
            </a:r>
            <a:r>
              <a:rPr lang="en-US" dirty="0"/>
              <a:t> ora la care un </a:t>
            </a:r>
            <a:r>
              <a:rPr lang="en-US" dirty="0" err="1"/>
              <a:t>utilizator</a:t>
            </a:r>
            <a:r>
              <a:rPr lang="en-US" dirty="0"/>
              <a:t> </a:t>
            </a:r>
            <a:r>
              <a:rPr lang="en-US" dirty="0" err="1"/>
              <a:t>accesează</a:t>
            </a:r>
            <a:r>
              <a:rPr lang="en-US" dirty="0"/>
              <a:t> un site. De </a:t>
            </a:r>
            <a:r>
              <a:rPr lang="en-US" dirty="0" err="1"/>
              <a:t>asemenea</a:t>
            </a:r>
            <a:r>
              <a:rPr lang="en-US" dirty="0"/>
              <a:t>, pot fi </a:t>
            </a:r>
            <a:r>
              <a:rPr lang="en-US" dirty="0" err="1"/>
              <a:t>colectate</a:t>
            </a:r>
            <a:r>
              <a:rPr lang="en-US" dirty="0"/>
              <a:t> date precum </a:t>
            </a:r>
            <a:r>
              <a:rPr lang="en-US" dirty="0" err="1"/>
              <a:t>tipul</a:t>
            </a:r>
            <a:r>
              <a:rPr lang="en-US" dirty="0"/>
              <a:t> de </a:t>
            </a:r>
            <a:r>
              <a:rPr lang="en-US" dirty="0" err="1"/>
              <a:t>valută</a:t>
            </a:r>
            <a:r>
              <a:rPr lang="en-US" dirty="0"/>
              <a:t> </a:t>
            </a:r>
            <a:r>
              <a:rPr lang="en-US" dirty="0" err="1"/>
              <a:t>utilizată</a:t>
            </a:r>
            <a:r>
              <a:rPr lang="en-US" dirty="0"/>
              <a:t> </a:t>
            </a:r>
            <a:r>
              <a:rPr lang="en-US" dirty="0" err="1"/>
              <a:t>într</a:t>
            </a:r>
            <a:r>
              <a:rPr lang="en-US" dirty="0"/>
              <a:t>-o </a:t>
            </a:r>
            <a:r>
              <a:rPr lang="en-US" dirty="0" err="1"/>
              <a:t>tranzacție</a:t>
            </a:r>
            <a:r>
              <a:rPr lang="en-US" dirty="0"/>
              <a:t>, </a:t>
            </a:r>
            <a:r>
              <a:rPr lang="en-US" dirty="0" err="1"/>
              <a:t>limba</a:t>
            </a:r>
            <a:r>
              <a:rPr lang="en-US" dirty="0"/>
              <a:t> </a:t>
            </a:r>
            <a:r>
              <a:rPr lang="en-US" dirty="0" err="1"/>
              <a:t>selectată</a:t>
            </a:r>
            <a:r>
              <a:rPr lang="en-US" dirty="0"/>
              <a:t>, </a:t>
            </a:r>
            <a:r>
              <a:rPr lang="en-US" dirty="0" err="1"/>
              <a:t>dimensiunile</a:t>
            </a:r>
            <a:r>
              <a:rPr lang="en-US" dirty="0"/>
              <a:t> </a:t>
            </a:r>
            <a:r>
              <a:rPr lang="en-US" dirty="0" err="1"/>
              <a:t>ecranului</a:t>
            </a:r>
            <a:r>
              <a:rPr lang="en-US" dirty="0"/>
              <a:t> </a:t>
            </a:r>
            <a:r>
              <a:rPr lang="en-US" dirty="0" err="1"/>
              <a:t>și</a:t>
            </a:r>
            <a:r>
              <a:rPr lang="en-US" dirty="0"/>
              <a:t> </a:t>
            </a:r>
            <a:r>
              <a:rPr lang="en-US" dirty="0" err="1"/>
              <a:t>sistemul</a:t>
            </a:r>
            <a:r>
              <a:rPr lang="en-US" dirty="0"/>
              <a:t> de </a:t>
            </a:r>
            <a:r>
              <a:rPr lang="en-US" dirty="0" err="1"/>
              <a:t>operare.Deși</a:t>
            </a:r>
            <a:r>
              <a:rPr lang="en-US" dirty="0"/>
              <a:t> </a:t>
            </a:r>
            <a:r>
              <a:rPr lang="en-US" dirty="0" err="1"/>
              <a:t>acestea</a:t>
            </a:r>
            <a:r>
              <a:rPr lang="en-US" dirty="0"/>
              <a:t> </a:t>
            </a:r>
            <a:r>
              <a:rPr lang="en-US" dirty="0" err="1"/>
              <a:t>reprezintă</a:t>
            </a:r>
            <a:r>
              <a:rPr lang="en-US" dirty="0"/>
              <a:t> </a:t>
            </a:r>
            <a:r>
              <a:rPr lang="en-US" dirty="0" err="1"/>
              <a:t>doar</a:t>
            </a:r>
            <a:r>
              <a:rPr lang="en-US" dirty="0"/>
              <a:t> un set minimal de </a:t>
            </a:r>
            <a:r>
              <a:rPr lang="en-US" dirty="0" err="1"/>
              <a:t>informații</a:t>
            </a:r>
            <a:r>
              <a:rPr lang="en-US" dirty="0"/>
              <a:t>, </a:t>
            </a:r>
            <a:r>
              <a:rPr lang="en-US" dirty="0" err="1"/>
              <a:t>ele</a:t>
            </a:r>
            <a:r>
              <a:rPr lang="en-US" dirty="0"/>
              <a:t> sunt </a:t>
            </a:r>
            <a:r>
              <a:rPr lang="en-US" dirty="0" err="1"/>
              <a:t>suficiente</a:t>
            </a:r>
            <a:r>
              <a:rPr lang="en-US" dirty="0"/>
              <a:t> </a:t>
            </a:r>
            <a:r>
              <a:rPr lang="en-US" dirty="0" err="1"/>
              <a:t>pentru</a:t>
            </a:r>
            <a:r>
              <a:rPr lang="en-US" dirty="0"/>
              <a:t> a </a:t>
            </a:r>
            <a:r>
              <a:rPr lang="en-US" dirty="0" err="1"/>
              <a:t>construi</a:t>
            </a:r>
            <a:r>
              <a:rPr lang="en-US" dirty="0"/>
              <a:t> un </a:t>
            </a:r>
            <a:r>
              <a:rPr lang="en-US" dirty="0" err="1"/>
              <a:t>profil</a:t>
            </a:r>
            <a:r>
              <a:rPr lang="en-US" dirty="0"/>
              <a:t> al </a:t>
            </a:r>
            <a:r>
              <a:rPr lang="en-US" dirty="0" err="1"/>
              <a:t>utilizatorului</a:t>
            </a:r>
            <a:r>
              <a:rPr lang="en-US" dirty="0"/>
              <a:t>. </a:t>
            </a:r>
            <a:r>
              <a:rPr lang="en-US" dirty="0" err="1"/>
              <a:t>Astfel</a:t>
            </a:r>
            <a:r>
              <a:rPr lang="en-US" dirty="0"/>
              <a:t>, </a:t>
            </a:r>
            <a:r>
              <a:rPr lang="en-US" dirty="0" err="1"/>
              <a:t>cunoașterea</a:t>
            </a:r>
            <a:r>
              <a:rPr lang="en-US" dirty="0"/>
              <a:t> </a:t>
            </a:r>
            <a:r>
              <a:rPr lang="en-US" dirty="0" err="1"/>
              <a:t>regiunii</a:t>
            </a:r>
            <a:r>
              <a:rPr lang="en-US" dirty="0"/>
              <a:t> </a:t>
            </a:r>
            <a:r>
              <a:rPr lang="en-US" dirty="0" err="1"/>
              <a:t>și</a:t>
            </a:r>
            <a:r>
              <a:rPr lang="en-US" dirty="0"/>
              <a:t> a </a:t>
            </a:r>
            <a:r>
              <a:rPr lang="en-US" dirty="0" err="1"/>
              <a:t>țării</a:t>
            </a:r>
            <a:r>
              <a:rPr lang="en-US" dirty="0"/>
              <a:t> </a:t>
            </a:r>
            <a:r>
              <a:rPr lang="en-US" dirty="0" err="1"/>
              <a:t>permite</a:t>
            </a:r>
            <a:r>
              <a:rPr lang="en-US" dirty="0"/>
              <a:t> </a:t>
            </a:r>
            <a:r>
              <a:rPr lang="en-US" dirty="0" err="1"/>
              <a:t>deducerea</a:t>
            </a:r>
            <a:r>
              <a:rPr lang="en-US" dirty="0"/>
              <a:t> </a:t>
            </a:r>
            <a:r>
              <a:rPr lang="en-US" dirty="0" err="1"/>
              <a:t>orei</a:t>
            </a:r>
            <a:r>
              <a:rPr lang="en-US" dirty="0"/>
              <a:t> locale; </a:t>
            </a:r>
            <a:r>
              <a:rPr lang="en-US" dirty="0" err="1"/>
              <a:t>dacă</a:t>
            </a:r>
            <a:r>
              <a:rPr lang="en-US" dirty="0"/>
              <a:t> </a:t>
            </a:r>
            <a:r>
              <a:rPr lang="en-US" dirty="0" err="1"/>
              <a:t>accesarea</a:t>
            </a:r>
            <a:r>
              <a:rPr lang="en-US" dirty="0"/>
              <a:t> are loc </a:t>
            </a:r>
            <a:r>
              <a:rPr lang="en-US" dirty="0" err="1"/>
              <a:t>frecvent</a:t>
            </a:r>
            <a:r>
              <a:rPr lang="en-US" dirty="0"/>
              <a:t> </a:t>
            </a:r>
            <a:r>
              <a:rPr lang="en-US" dirty="0" err="1"/>
              <a:t>în</a:t>
            </a:r>
            <a:r>
              <a:rPr lang="en-US" dirty="0"/>
              <a:t> </a:t>
            </a:r>
            <a:r>
              <a:rPr lang="en-US" dirty="0" err="1"/>
              <a:t>timpul</a:t>
            </a:r>
            <a:r>
              <a:rPr lang="en-US" dirty="0"/>
              <a:t> </a:t>
            </a:r>
            <a:r>
              <a:rPr lang="en-US" dirty="0" err="1"/>
              <a:t>nopții</a:t>
            </a:r>
            <a:r>
              <a:rPr lang="en-US" dirty="0"/>
              <a:t>, se </a:t>
            </a:r>
            <a:r>
              <a:rPr lang="en-US" dirty="0" err="1"/>
              <a:t>poate</a:t>
            </a:r>
            <a:r>
              <a:rPr lang="en-US" dirty="0"/>
              <a:t> </a:t>
            </a:r>
            <a:r>
              <a:rPr lang="en-US" dirty="0" err="1"/>
              <a:t>presupune</a:t>
            </a:r>
            <a:r>
              <a:rPr lang="en-US" dirty="0"/>
              <a:t> un </a:t>
            </a:r>
            <a:r>
              <a:rPr lang="en-US" dirty="0" err="1"/>
              <a:t>tipar</a:t>
            </a:r>
            <a:r>
              <a:rPr lang="en-US" dirty="0"/>
              <a:t> de </a:t>
            </a:r>
            <a:r>
              <a:rPr lang="en-US" dirty="0" err="1"/>
              <a:t>activitate</a:t>
            </a:r>
            <a:r>
              <a:rPr lang="en-US" dirty="0"/>
              <a:t> </a:t>
            </a:r>
            <a:r>
              <a:rPr lang="en-US" dirty="0" err="1"/>
              <a:t>nocturnă</a:t>
            </a:r>
            <a:r>
              <a:rPr lang="en-US" dirty="0"/>
              <a:t>, </a:t>
            </a:r>
            <a:r>
              <a:rPr lang="en-US" dirty="0" err="1"/>
              <a:t>ceea</a:t>
            </a:r>
            <a:r>
              <a:rPr lang="en-US" dirty="0"/>
              <a:t> </a:t>
            </a:r>
            <a:r>
              <a:rPr lang="en-US" dirty="0" err="1"/>
              <a:t>ce</a:t>
            </a:r>
            <a:r>
              <a:rPr lang="en-US" dirty="0"/>
              <a:t> </a:t>
            </a:r>
            <a:r>
              <a:rPr lang="en-US" dirty="0" err="1"/>
              <a:t>indică</a:t>
            </a:r>
            <a:r>
              <a:rPr lang="en-US" dirty="0"/>
              <a:t> intervale optime </a:t>
            </a:r>
            <a:r>
              <a:rPr lang="en-US" dirty="0" err="1"/>
              <a:t>pentru</a:t>
            </a:r>
            <a:r>
              <a:rPr lang="en-US" dirty="0"/>
              <a:t> </a:t>
            </a:r>
            <a:r>
              <a:rPr lang="en-US" dirty="0" err="1"/>
              <a:t>afișarea</a:t>
            </a:r>
            <a:r>
              <a:rPr lang="en-US" dirty="0"/>
              <a:t> </a:t>
            </a:r>
            <a:r>
              <a:rPr lang="en-US" dirty="0" err="1"/>
              <a:t>reclamelor</a:t>
            </a:r>
            <a:r>
              <a:rPr lang="en-US" dirty="0"/>
              <a:t>. </a:t>
            </a:r>
            <a:r>
              <a:rPr lang="en-US" dirty="0" err="1"/>
              <a:t>În</a:t>
            </a:r>
            <a:r>
              <a:rPr lang="en-US" dirty="0"/>
              <a:t> plus, </a:t>
            </a:r>
            <a:r>
              <a:rPr lang="en-US" dirty="0" err="1"/>
              <a:t>tipul</a:t>
            </a:r>
            <a:r>
              <a:rPr lang="en-US" dirty="0"/>
              <a:t> de </a:t>
            </a:r>
            <a:r>
              <a:rPr lang="en-US" dirty="0" err="1"/>
              <a:t>valută</a:t>
            </a:r>
            <a:r>
              <a:rPr lang="en-US" dirty="0"/>
              <a:t> </a:t>
            </a:r>
            <a:r>
              <a:rPr lang="en-US" dirty="0" err="1"/>
              <a:t>și</a:t>
            </a:r>
            <a:r>
              <a:rPr lang="en-US" dirty="0"/>
              <a:t> </a:t>
            </a:r>
            <a:r>
              <a:rPr lang="en-US" dirty="0" err="1"/>
              <a:t>limba</a:t>
            </a:r>
            <a:r>
              <a:rPr lang="en-US" dirty="0"/>
              <a:t> </a:t>
            </a:r>
            <a:r>
              <a:rPr lang="en-US" dirty="0" err="1"/>
              <a:t>utilizată</a:t>
            </a:r>
            <a:r>
              <a:rPr lang="en-US" dirty="0"/>
              <a:t> pot </a:t>
            </a:r>
            <a:r>
              <a:rPr lang="en-US" dirty="0" err="1"/>
              <a:t>sugera</a:t>
            </a:r>
            <a:r>
              <a:rPr lang="en-US" dirty="0"/>
              <a:t> </a:t>
            </a:r>
            <a:r>
              <a:rPr lang="en-US" dirty="0" err="1"/>
              <a:t>dacă</a:t>
            </a:r>
            <a:r>
              <a:rPr lang="en-US" dirty="0"/>
              <a:t> </a:t>
            </a:r>
            <a:r>
              <a:rPr lang="en-US" dirty="0" err="1"/>
              <a:t>persoana</a:t>
            </a:r>
            <a:r>
              <a:rPr lang="en-US" dirty="0"/>
              <a:t> </a:t>
            </a:r>
            <a:r>
              <a:rPr lang="en-US" dirty="0" err="1"/>
              <a:t>este</a:t>
            </a:r>
            <a:r>
              <a:rPr lang="en-US" dirty="0"/>
              <a:t> </a:t>
            </a:r>
            <a:r>
              <a:rPr lang="en-US" dirty="0" err="1"/>
              <a:t>turist</a:t>
            </a:r>
            <a:r>
              <a:rPr lang="en-US" dirty="0"/>
              <a:t> </a:t>
            </a:r>
            <a:r>
              <a:rPr lang="en-US" dirty="0" err="1"/>
              <a:t>sau</a:t>
            </a:r>
            <a:r>
              <a:rPr lang="en-US" dirty="0"/>
              <a:t> </a:t>
            </a:r>
            <a:r>
              <a:rPr lang="en-US" dirty="0" err="1"/>
              <a:t>rezident</a:t>
            </a:r>
            <a:r>
              <a:rPr lang="en-US" dirty="0"/>
              <a:t>. </a:t>
            </a:r>
            <a:r>
              <a:rPr lang="en-US" dirty="0" err="1"/>
              <a:t>Dimensiunile</a:t>
            </a:r>
            <a:r>
              <a:rPr lang="en-US" dirty="0"/>
              <a:t> </a:t>
            </a:r>
            <a:r>
              <a:rPr lang="en-US" dirty="0" err="1"/>
              <a:t>ecranului</a:t>
            </a:r>
            <a:r>
              <a:rPr lang="en-US" dirty="0"/>
              <a:t> </a:t>
            </a:r>
            <a:r>
              <a:rPr lang="en-US" dirty="0" err="1"/>
              <a:t>și</a:t>
            </a:r>
            <a:r>
              <a:rPr lang="en-US" dirty="0"/>
              <a:t> </a:t>
            </a:r>
            <a:r>
              <a:rPr lang="en-US" dirty="0" err="1"/>
              <a:t>sistemul</a:t>
            </a:r>
            <a:r>
              <a:rPr lang="en-US" dirty="0"/>
              <a:t> de </a:t>
            </a:r>
            <a:r>
              <a:rPr lang="en-US" dirty="0" err="1"/>
              <a:t>operare</a:t>
            </a:r>
            <a:r>
              <a:rPr lang="en-US" dirty="0"/>
              <a:t> permit, la </a:t>
            </a:r>
            <a:r>
              <a:rPr lang="en-US" dirty="0" err="1"/>
              <a:t>rândul</a:t>
            </a:r>
            <a:r>
              <a:rPr lang="en-US" dirty="0"/>
              <a:t> lor, </a:t>
            </a:r>
            <a:r>
              <a:rPr lang="en-US" dirty="0" err="1"/>
              <a:t>identificarea</a:t>
            </a:r>
            <a:r>
              <a:rPr lang="en-US" dirty="0"/>
              <a:t> </a:t>
            </a:r>
            <a:r>
              <a:rPr lang="en-US" dirty="0" err="1"/>
              <a:t>relativ</a:t>
            </a:r>
            <a:r>
              <a:rPr lang="en-US" dirty="0"/>
              <a:t> </a:t>
            </a:r>
            <a:r>
              <a:rPr lang="en-US" dirty="0" err="1"/>
              <a:t>precisă</a:t>
            </a:r>
            <a:r>
              <a:rPr lang="en-US" dirty="0"/>
              <a:t> a </a:t>
            </a:r>
            <a:r>
              <a:rPr lang="en-US" dirty="0" err="1"/>
              <a:t>dispozitivului</a:t>
            </a:r>
            <a:r>
              <a:rPr lang="en-US" dirty="0"/>
              <a:t> </a:t>
            </a:r>
            <a:r>
              <a:rPr lang="en-US" dirty="0" err="1"/>
              <a:t>folosit</a:t>
            </a:r>
            <a:r>
              <a:rPr lang="en-US" dirty="0"/>
              <a:t> (</a:t>
            </a:r>
            <a:r>
              <a:rPr lang="en-US" dirty="0" err="1"/>
              <a:t>telefon</a:t>
            </a:r>
            <a:r>
              <a:rPr lang="en-US" dirty="0"/>
              <a:t>, </a:t>
            </a:r>
            <a:r>
              <a:rPr lang="en-US" dirty="0" err="1"/>
              <a:t>tabletă</a:t>
            </a:r>
            <a:r>
              <a:rPr lang="en-US" dirty="0"/>
              <a:t>, laptop), </a:t>
            </a:r>
            <a:r>
              <a:rPr lang="en-US" dirty="0" err="1"/>
              <a:t>iar</a:t>
            </a:r>
            <a:r>
              <a:rPr lang="en-US" dirty="0"/>
              <a:t> </a:t>
            </a:r>
            <a:r>
              <a:rPr lang="en-US" dirty="0" err="1"/>
              <a:t>în</a:t>
            </a:r>
            <a:r>
              <a:rPr lang="en-US" dirty="0"/>
              <a:t> </a:t>
            </a:r>
            <a:r>
              <a:rPr lang="en-US" dirty="0" err="1"/>
              <a:t>anumite</a:t>
            </a:r>
            <a:r>
              <a:rPr lang="en-US" dirty="0"/>
              <a:t> </a:t>
            </a:r>
            <a:r>
              <a:rPr lang="en-US" dirty="0" err="1"/>
              <a:t>cazuri</a:t>
            </a:r>
            <a:r>
              <a:rPr lang="en-US" dirty="0"/>
              <a:t> </a:t>
            </a:r>
            <a:r>
              <a:rPr lang="en-US" dirty="0" err="1"/>
              <a:t>chiar</a:t>
            </a:r>
            <a:r>
              <a:rPr lang="en-US" dirty="0"/>
              <a:t> a </a:t>
            </a:r>
            <a:r>
              <a:rPr lang="en-US" dirty="0" err="1"/>
              <a:t>modelului</a:t>
            </a:r>
            <a:r>
              <a:rPr lang="en-US" dirty="0"/>
              <a:t>, pe </a:t>
            </a:r>
            <a:r>
              <a:rPr lang="en-US" dirty="0" err="1"/>
              <a:t>baza</a:t>
            </a:r>
            <a:r>
              <a:rPr lang="en-US" dirty="0"/>
              <a:t> </a:t>
            </a:r>
            <a:r>
              <a:rPr lang="en-US" dirty="0" err="1"/>
              <a:t>versiunii</a:t>
            </a:r>
            <a:r>
              <a:rPr lang="en-US" dirty="0"/>
              <a:t> </a:t>
            </a:r>
            <a:r>
              <a:rPr lang="en-US" dirty="0" err="1"/>
              <a:t>sistemului</a:t>
            </a:r>
            <a:r>
              <a:rPr lang="en-US" dirty="0"/>
              <a:t> de </a:t>
            </a:r>
            <a:r>
              <a:rPr lang="en-US" dirty="0" err="1"/>
              <a:t>operare</a:t>
            </a:r>
            <a:r>
              <a:rPr lang="en-US" dirty="0"/>
              <a:t>, </a:t>
            </a:r>
            <a:r>
              <a:rPr lang="en-US" dirty="0" err="1"/>
              <a:t>în</a:t>
            </a:r>
            <a:r>
              <a:rPr lang="en-US" dirty="0"/>
              <a:t> special </a:t>
            </a:r>
            <a:r>
              <a:rPr lang="en-US" dirty="0" err="1"/>
              <a:t>pentru</a:t>
            </a:r>
            <a:r>
              <a:rPr lang="en-US" dirty="0"/>
              <a:t> </a:t>
            </a:r>
            <a:r>
              <a:rPr lang="en-US" dirty="0" err="1"/>
              <a:t>dispozitivele</a:t>
            </a:r>
            <a:r>
              <a:rPr lang="en-US" dirty="0"/>
              <a:t> mobile.</a:t>
            </a:r>
          </a:p>
        </p:txBody>
      </p:sp>
    </p:spTree>
    <p:extLst>
      <p:ext uri="{BB962C8B-B14F-4D97-AF65-F5344CB8AC3E}">
        <p14:creationId xmlns:p14="http://schemas.microsoft.com/office/powerpoint/2010/main" val="767559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9213B4-2B05-6C5A-6E9E-891E43A6A704}"/>
              </a:ext>
            </a:extLst>
          </p:cNvPr>
          <p:cNvSpPr>
            <a:spLocks noGrp="1"/>
          </p:cNvSpPr>
          <p:nvPr>
            <p:ph idx="1"/>
          </p:nvPr>
        </p:nvSpPr>
        <p:spPr>
          <a:xfrm>
            <a:off x="94267" y="131975"/>
            <a:ext cx="8908331" cy="6240545"/>
          </a:xfrm>
        </p:spPr>
        <p:txBody>
          <a:bodyPr>
            <a:normAutofit/>
          </a:bodyPr>
          <a:lstStyle/>
          <a:p>
            <a:r>
              <a:rPr lang="en-US" dirty="0" err="1"/>
              <a:t>Datele</a:t>
            </a:r>
            <a:r>
              <a:rPr lang="en-US" dirty="0"/>
              <a:t> </a:t>
            </a:r>
            <a:r>
              <a:rPr lang="en-US" dirty="0" err="1"/>
              <a:t>colectate</a:t>
            </a:r>
            <a:r>
              <a:rPr lang="en-US" dirty="0"/>
              <a:t> de pe multiple site-</a:t>
            </a:r>
            <a:r>
              <a:rPr lang="en-US" dirty="0" err="1"/>
              <a:t>uri</a:t>
            </a:r>
            <a:r>
              <a:rPr lang="en-US" dirty="0"/>
              <a:t>, care </a:t>
            </a:r>
            <a:r>
              <a:rPr lang="en-US" dirty="0" err="1"/>
              <a:t>monitorizează</a:t>
            </a:r>
            <a:r>
              <a:rPr lang="en-US" dirty="0"/>
              <a:t> </a:t>
            </a:r>
            <a:r>
              <a:rPr lang="en-US" dirty="0" err="1"/>
              <a:t>activitatea</a:t>
            </a:r>
            <a:r>
              <a:rPr lang="en-US" dirty="0"/>
              <a:t> </a:t>
            </a:r>
            <a:r>
              <a:rPr lang="en-US" dirty="0" err="1"/>
              <a:t>utilizatorilor</a:t>
            </a:r>
            <a:r>
              <a:rPr lang="en-US" dirty="0"/>
              <a:t> </a:t>
            </a:r>
            <a:r>
              <a:rPr lang="en-US" dirty="0" err="1"/>
              <a:t>și</a:t>
            </a:r>
            <a:r>
              <a:rPr lang="en-US" dirty="0"/>
              <a:t> </a:t>
            </a:r>
            <a:r>
              <a:rPr lang="en-US" dirty="0" err="1"/>
              <a:t>istoricul</a:t>
            </a:r>
            <a:r>
              <a:rPr lang="en-US" dirty="0"/>
              <a:t> </a:t>
            </a:r>
            <a:r>
              <a:rPr lang="en-US" dirty="0" err="1"/>
              <a:t>căutărilor</a:t>
            </a:r>
            <a:r>
              <a:rPr lang="en-US" dirty="0"/>
              <a:t> pe </a:t>
            </a:r>
            <a:r>
              <a:rPr lang="en-US" dirty="0" err="1"/>
              <a:t>propriile</a:t>
            </a:r>
            <a:r>
              <a:rPr lang="en-US" dirty="0"/>
              <a:t> </a:t>
            </a:r>
            <a:r>
              <a:rPr lang="en-US" dirty="0" err="1"/>
              <a:t>platforme</a:t>
            </a:r>
            <a:r>
              <a:rPr lang="en-US" dirty="0"/>
              <a:t>, pot </a:t>
            </a:r>
            <a:r>
              <a:rPr lang="en-US" dirty="0" err="1"/>
              <a:t>permite</a:t>
            </a:r>
            <a:r>
              <a:rPr lang="en-US" dirty="0"/>
              <a:t> </a:t>
            </a:r>
            <a:r>
              <a:rPr lang="en-US" dirty="0" err="1"/>
              <a:t>conturarea</a:t>
            </a:r>
            <a:r>
              <a:rPr lang="en-US" dirty="0"/>
              <a:t> </a:t>
            </a:r>
            <a:r>
              <a:rPr lang="en-US" dirty="0" err="1"/>
              <a:t>unui</a:t>
            </a:r>
            <a:r>
              <a:rPr lang="en-US" dirty="0"/>
              <a:t> </a:t>
            </a:r>
            <a:r>
              <a:rPr lang="en-US" dirty="0" err="1"/>
              <a:t>profil</a:t>
            </a:r>
            <a:r>
              <a:rPr lang="en-US" dirty="0"/>
              <a:t> </a:t>
            </a:r>
            <a:r>
              <a:rPr lang="en-US" dirty="0" err="1"/>
              <a:t>extrem</a:t>
            </a:r>
            <a:r>
              <a:rPr lang="en-US" dirty="0"/>
              <a:t> de </a:t>
            </a:r>
            <a:r>
              <a:rPr lang="en-US" dirty="0" err="1"/>
              <a:t>detaliat</a:t>
            </a:r>
            <a:r>
              <a:rPr lang="en-US" dirty="0"/>
              <a:t>. </a:t>
            </a:r>
            <a:r>
              <a:rPr lang="en-US" dirty="0" err="1"/>
              <a:t>Astfel</a:t>
            </a:r>
            <a:r>
              <a:rPr lang="en-US" dirty="0"/>
              <a:t>, se pot </a:t>
            </a:r>
            <a:r>
              <a:rPr lang="en-US" dirty="0" err="1"/>
              <a:t>estima</a:t>
            </a:r>
            <a:r>
              <a:rPr lang="en-US" dirty="0"/>
              <a:t> cu o </a:t>
            </a:r>
            <a:r>
              <a:rPr lang="en-US" dirty="0" err="1"/>
              <a:t>acuratețe</a:t>
            </a:r>
            <a:r>
              <a:rPr lang="en-US" dirty="0"/>
              <a:t> </a:t>
            </a:r>
            <a:r>
              <a:rPr lang="en-US" dirty="0" err="1"/>
              <a:t>relativ</a:t>
            </a:r>
            <a:r>
              <a:rPr lang="en-US" dirty="0"/>
              <a:t> </a:t>
            </a:r>
            <a:r>
              <a:rPr lang="en-US" dirty="0" err="1"/>
              <a:t>ridicată</a:t>
            </a:r>
            <a:r>
              <a:rPr lang="en-US" dirty="0"/>
              <a:t> </a:t>
            </a:r>
            <a:r>
              <a:rPr lang="en-US" dirty="0" err="1"/>
              <a:t>caracteristici</a:t>
            </a:r>
            <a:r>
              <a:rPr lang="en-US" dirty="0"/>
              <a:t> precum </a:t>
            </a:r>
            <a:r>
              <a:rPr lang="en-US" dirty="0" err="1"/>
              <a:t>vârsta</a:t>
            </a:r>
            <a:r>
              <a:rPr lang="en-US" dirty="0"/>
              <a:t>, </a:t>
            </a:r>
            <a:r>
              <a:rPr lang="en-US" dirty="0" err="1"/>
              <a:t>sexul</a:t>
            </a:r>
            <a:r>
              <a:rPr lang="en-US" dirty="0"/>
              <a:t>, </a:t>
            </a:r>
            <a:r>
              <a:rPr lang="en-US" dirty="0" err="1"/>
              <a:t>ocupația</a:t>
            </a:r>
            <a:r>
              <a:rPr lang="en-US" dirty="0"/>
              <a:t> </a:t>
            </a:r>
            <a:r>
              <a:rPr lang="en-US" dirty="0" err="1"/>
              <a:t>sau</a:t>
            </a:r>
            <a:r>
              <a:rPr lang="en-US" dirty="0"/>
              <a:t> </a:t>
            </a:r>
            <a:r>
              <a:rPr lang="en-US" dirty="0" err="1"/>
              <a:t>nivelul</a:t>
            </a:r>
            <a:r>
              <a:rPr lang="en-US" dirty="0"/>
              <a:t> de </a:t>
            </a:r>
            <a:r>
              <a:rPr lang="en-US" dirty="0" err="1"/>
              <a:t>educație</a:t>
            </a:r>
            <a:r>
              <a:rPr lang="en-US" dirty="0"/>
              <a:t>. </a:t>
            </a:r>
          </a:p>
          <a:p>
            <a:r>
              <a:rPr lang="en-US" dirty="0"/>
              <a:t>De </a:t>
            </a:r>
            <a:r>
              <a:rPr lang="en-US" dirty="0" err="1"/>
              <a:t>exemplu</a:t>
            </a:r>
            <a:r>
              <a:rPr lang="en-US" dirty="0"/>
              <a:t>, un </a:t>
            </a:r>
            <a:r>
              <a:rPr lang="en-US" dirty="0" err="1"/>
              <a:t>tipar</a:t>
            </a:r>
            <a:r>
              <a:rPr lang="en-US" dirty="0"/>
              <a:t> de </a:t>
            </a:r>
            <a:r>
              <a:rPr lang="en-US" dirty="0" err="1"/>
              <a:t>utilizare</a:t>
            </a:r>
            <a:r>
              <a:rPr lang="en-US" dirty="0"/>
              <a:t> </a:t>
            </a:r>
            <a:r>
              <a:rPr lang="en-US" dirty="0" err="1"/>
              <a:t>nocturnă</a:t>
            </a:r>
            <a:r>
              <a:rPr lang="en-US" dirty="0"/>
              <a:t>, </a:t>
            </a:r>
            <a:r>
              <a:rPr lang="en-US" dirty="0" err="1"/>
              <a:t>corelat</a:t>
            </a:r>
            <a:r>
              <a:rPr lang="en-US" dirty="0"/>
              <a:t> cu </a:t>
            </a:r>
            <a:r>
              <a:rPr lang="en-US" dirty="0" err="1"/>
              <a:t>accesarea</a:t>
            </a:r>
            <a:r>
              <a:rPr lang="en-US" dirty="0"/>
              <a:t> </a:t>
            </a:r>
            <a:r>
              <a:rPr lang="en-US" dirty="0" err="1"/>
              <a:t>frecventă</a:t>
            </a:r>
            <a:r>
              <a:rPr lang="en-US" dirty="0"/>
              <a:t> a </a:t>
            </a:r>
            <a:r>
              <a:rPr lang="en-US" dirty="0" err="1"/>
              <a:t>resurselor</a:t>
            </a:r>
            <a:r>
              <a:rPr lang="en-US" dirty="0"/>
              <a:t> </a:t>
            </a:r>
            <a:r>
              <a:rPr lang="en-US" dirty="0" err="1"/>
              <a:t>academice</a:t>
            </a:r>
            <a:r>
              <a:rPr lang="en-US" dirty="0"/>
              <a:t>, </a:t>
            </a:r>
            <a:r>
              <a:rPr lang="en-US" dirty="0" err="1"/>
              <a:t>poate</a:t>
            </a:r>
            <a:r>
              <a:rPr lang="en-US" dirty="0"/>
              <a:t> </a:t>
            </a:r>
            <a:r>
              <a:rPr lang="en-US" dirty="0" err="1"/>
              <a:t>sugera</a:t>
            </a:r>
            <a:r>
              <a:rPr lang="en-US" dirty="0"/>
              <a:t> </a:t>
            </a:r>
            <a:r>
              <a:rPr lang="en-US" dirty="0" err="1"/>
              <a:t>faptul</a:t>
            </a:r>
            <a:r>
              <a:rPr lang="en-US" dirty="0"/>
              <a:t> </a:t>
            </a:r>
            <a:r>
              <a:rPr lang="en-US" dirty="0" err="1"/>
              <a:t>că</a:t>
            </a:r>
            <a:r>
              <a:rPr lang="en-US" dirty="0"/>
              <a:t> </a:t>
            </a:r>
            <a:r>
              <a:rPr lang="en-US" dirty="0" err="1"/>
              <a:t>utilizatorul</a:t>
            </a:r>
            <a:r>
              <a:rPr lang="en-US" dirty="0"/>
              <a:t> </a:t>
            </a:r>
            <a:r>
              <a:rPr lang="en-US" dirty="0" err="1"/>
              <a:t>este</a:t>
            </a:r>
            <a:r>
              <a:rPr lang="en-US" dirty="0"/>
              <a:t> student </a:t>
            </a:r>
            <a:r>
              <a:rPr lang="en-US" dirty="0" err="1"/>
              <a:t>și</a:t>
            </a:r>
            <a:r>
              <a:rPr lang="en-US" dirty="0"/>
              <a:t>, </a:t>
            </a:r>
            <a:r>
              <a:rPr lang="en-US" dirty="0" err="1"/>
              <a:t>probabil</a:t>
            </a:r>
            <a:r>
              <a:rPr lang="en-US" dirty="0"/>
              <a:t>, nu </a:t>
            </a:r>
            <a:r>
              <a:rPr lang="en-US" dirty="0" err="1"/>
              <a:t>este</a:t>
            </a:r>
            <a:r>
              <a:rPr lang="en-US" dirty="0"/>
              <a:t> </a:t>
            </a:r>
            <a:r>
              <a:rPr lang="en-US" dirty="0" err="1"/>
              <a:t>angajat</a:t>
            </a:r>
            <a:r>
              <a:rPr lang="en-US" dirty="0"/>
              <a:t> cu </a:t>
            </a:r>
            <a:r>
              <a:rPr lang="en-US" dirty="0" err="1"/>
              <a:t>normă</a:t>
            </a:r>
            <a:r>
              <a:rPr lang="en-US" dirty="0"/>
              <a:t> </a:t>
            </a:r>
            <a:r>
              <a:rPr lang="en-US" dirty="0" err="1"/>
              <a:t>întreagă</a:t>
            </a:r>
            <a:r>
              <a:rPr lang="en-US" dirty="0"/>
              <a:t>. </a:t>
            </a:r>
            <a:r>
              <a:rPr lang="en-US" dirty="0" err="1"/>
              <a:t>În</a:t>
            </a:r>
            <a:r>
              <a:rPr lang="en-US" dirty="0"/>
              <a:t> plus, pot fi </a:t>
            </a:r>
            <a:r>
              <a:rPr lang="en-US" dirty="0" err="1"/>
              <a:t>deduse</a:t>
            </a:r>
            <a:r>
              <a:rPr lang="en-US" dirty="0"/>
              <a:t> </a:t>
            </a:r>
            <a:r>
              <a:rPr lang="en-US" dirty="0" err="1"/>
              <a:t>inclusiv</a:t>
            </a:r>
            <a:r>
              <a:rPr lang="en-US" dirty="0"/>
              <a:t> </a:t>
            </a:r>
            <a:r>
              <a:rPr lang="en-US" dirty="0" err="1"/>
              <a:t>aspecte</a:t>
            </a:r>
            <a:r>
              <a:rPr lang="en-US" dirty="0"/>
              <a:t> </a:t>
            </a:r>
            <a:r>
              <a:rPr lang="en-US" dirty="0" err="1"/>
              <a:t>sensibile</a:t>
            </a:r>
            <a:r>
              <a:rPr lang="en-US" dirty="0"/>
              <a:t>, precum </a:t>
            </a:r>
            <a:r>
              <a:rPr lang="en-US" dirty="0" err="1"/>
              <a:t>convingerile</a:t>
            </a:r>
            <a:r>
              <a:rPr lang="en-US" dirty="0"/>
              <a:t> </a:t>
            </a:r>
            <a:r>
              <a:rPr lang="en-US" dirty="0" err="1"/>
              <a:t>religioase</a:t>
            </a:r>
            <a:r>
              <a:rPr lang="en-US" dirty="0"/>
              <a:t>, </a:t>
            </a:r>
            <a:r>
              <a:rPr lang="en-US" dirty="0" err="1"/>
              <a:t>orientarea</a:t>
            </a:r>
            <a:r>
              <a:rPr lang="en-US" dirty="0"/>
              <a:t> </a:t>
            </a:r>
            <a:r>
              <a:rPr lang="en-US" dirty="0" err="1"/>
              <a:t>politică</a:t>
            </a:r>
            <a:r>
              <a:rPr lang="en-US" dirty="0"/>
              <a:t> </a:t>
            </a:r>
            <a:r>
              <a:rPr lang="en-US" dirty="0" err="1"/>
              <a:t>sau</a:t>
            </a:r>
            <a:r>
              <a:rPr lang="en-US" dirty="0"/>
              <a:t> </a:t>
            </a:r>
            <a:r>
              <a:rPr lang="en-US" dirty="0" err="1"/>
              <a:t>sexuală</a:t>
            </a:r>
            <a:r>
              <a:rPr lang="en-US" dirty="0"/>
              <a:t>, precum </a:t>
            </a:r>
            <a:r>
              <a:rPr lang="en-US" dirty="0" err="1"/>
              <a:t>și</a:t>
            </a:r>
            <a:r>
              <a:rPr lang="en-US" dirty="0"/>
              <a:t> diverse </a:t>
            </a:r>
            <a:r>
              <a:rPr lang="en-US" dirty="0" err="1"/>
              <a:t>preferințe</a:t>
            </a:r>
            <a:r>
              <a:rPr lang="en-US" dirty="0"/>
              <a:t> </a:t>
            </a:r>
            <a:r>
              <a:rPr lang="en-US" dirty="0" err="1"/>
              <a:t>personale</a:t>
            </a:r>
            <a:r>
              <a:rPr lang="en-US" dirty="0"/>
              <a:t>. </a:t>
            </a:r>
            <a:r>
              <a:rPr lang="en-US" dirty="0" err="1"/>
              <a:t>Aceste</a:t>
            </a:r>
            <a:r>
              <a:rPr lang="en-US" dirty="0"/>
              <a:t> </a:t>
            </a:r>
            <a:r>
              <a:rPr lang="en-US" dirty="0" err="1"/>
              <a:t>informații</a:t>
            </a:r>
            <a:r>
              <a:rPr lang="en-US" dirty="0"/>
              <a:t> au o </a:t>
            </a:r>
            <a:r>
              <a:rPr lang="en-US" dirty="0" err="1"/>
              <a:t>valoare</a:t>
            </a:r>
            <a:r>
              <a:rPr lang="en-US" dirty="0"/>
              <a:t> </a:t>
            </a:r>
            <a:r>
              <a:rPr lang="en-US" dirty="0" err="1"/>
              <a:t>considerabilă</a:t>
            </a:r>
            <a:r>
              <a:rPr lang="en-US" dirty="0"/>
              <a:t> </a:t>
            </a:r>
            <a:r>
              <a:rPr lang="en-US" dirty="0" err="1"/>
              <a:t>pentru</a:t>
            </a:r>
            <a:r>
              <a:rPr lang="en-US" dirty="0"/>
              <a:t> </a:t>
            </a:r>
            <a:r>
              <a:rPr lang="en-US" dirty="0" err="1"/>
              <a:t>companii</a:t>
            </a:r>
            <a:r>
              <a:rPr lang="en-US" dirty="0"/>
              <a:t>, </a:t>
            </a:r>
            <a:r>
              <a:rPr lang="en-US" dirty="0" err="1"/>
              <a:t>întrucât</a:t>
            </a:r>
            <a:r>
              <a:rPr lang="en-US" dirty="0"/>
              <a:t> permit </a:t>
            </a:r>
            <a:r>
              <a:rPr lang="en-US" dirty="0" err="1"/>
              <a:t>realizarea</a:t>
            </a:r>
            <a:r>
              <a:rPr lang="en-US" dirty="0"/>
              <a:t> </a:t>
            </a:r>
            <a:r>
              <a:rPr lang="en-US" dirty="0" err="1"/>
              <a:t>unor</a:t>
            </a:r>
            <a:r>
              <a:rPr lang="en-US" dirty="0"/>
              <a:t> </a:t>
            </a:r>
            <a:r>
              <a:rPr lang="en-US" dirty="0" err="1"/>
              <a:t>campanii</a:t>
            </a:r>
            <a:r>
              <a:rPr lang="en-US" dirty="0"/>
              <a:t> </a:t>
            </a:r>
            <a:r>
              <a:rPr lang="en-US" dirty="0" err="1"/>
              <a:t>publicitare</a:t>
            </a:r>
            <a:r>
              <a:rPr lang="en-US" dirty="0"/>
              <a:t> </a:t>
            </a:r>
            <a:r>
              <a:rPr lang="en-US" dirty="0" err="1"/>
              <a:t>extrem</a:t>
            </a:r>
            <a:r>
              <a:rPr lang="en-US" dirty="0"/>
              <a:t> de bine </a:t>
            </a:r>
            <a:r>
              <a:rPr lang="en-US" dirty="0" err="1"/>
              <a:t>direcționate</a:t>
            </a:r>
            <a:r>
              <a:rPr lang="en-US" dirty="0"/>
              <a:t> </a:t>
            </a:r>
            <a:r>
              <a:rPr lang="en-US" dirty="0" err="1"/>
              <a:t>și</a:t>
            </a:r>
            <a:r>
              <a:rPr lang="en-US" dirty="0"/>
              <a:t> </a:t>
            </a:r>
            <a:r>
              <a:rPr lang="en-US" dirty="0" err="1"/>
              <a:t>personalizate</a:t>
            </a:r>
            <a:r>
              <a:rPr lang="en-US" dirty="0"/>
              <a:t>, </a:t>
            </a:r>
            <a:r>
              <a:rPr lang="en-US" dirty="0" err="1"/>
              <a:t>dar</a:t>
            </a:r>
            <a:r>
              <a:rPr lang="en-US" dirty="0"/>
              <a:t> </a:t>
            </a:r>
            <a:r>
              <a:rPr lang="en-US" dirty="0" err="1"/>
              <a:t>și</a:t>
            </a:r>
            <a:r>
              <a:rPr lang="en-US" dirty="0"/>
              <a:t> </a:t>
            </a:r>
            <a:r>
              <a:rPr lang="en-US" dirty="0" err="1"/>
              <a:t>activități</a:t>
            </a:r>
            <a:r>
              <a:rPr lang="en-US" dirty="0"/>
              <a:t> de </a:t>
            </a:r>
            <a:r>
              <a:rPr lang="en-US" dirty="0" err="1"/>
              <a:t>monitorizare</a:t>
            </a:r>
            <a:r>
              <a:rPr lang="en-US" dirty="0"/>
              <a:t> </a:t>
            </a:r>
            <a:r>
              <a:rPr lang="en-US" dirty="0" err="1"/>
              <a:t>comportamentală</a:t>
            </a:r>
            <a:r>
              <a:rPr lang="en-US" dirty="0"/>
              <a:t>. </a:t>
            </a:r>
            <a:r>
              <a:rPr lang="en-US" dirty="0" err="1"/>
              <a:t>Totodată</a:t>
            </a:r>
            <a:r>
              <a:rPr lang="en-US" dirty="0"/>
              <a:t>, </a:t>
            </a:r>
            <a:r>
              <a:rPr lang="en-US" dirty="0" err="1"/>
              <a:t>ele</a:t>
            </a:r>
            <a:r>
              <a:rPr lang="en-US" dirty="0"/>
              <a:t> pot fi </a:t>
            </a:r>
            <a:r>
              <a:rPr lang="en-US" dirty="0" err="1"/>
              <a:t>exploatate</a:t>
            </a:r>
            <a:r>
              <a:rPr lang="en-US" dirty="0"/>
              <a:t> </a:t>
            </a:r>
            <a:r>
              <a:rPr lang="en-US" dirty="0" err="1"/>
              <a:t>în</a:t>
            </a:r>
            <a:r>
              <a:rPr lang="en-US" dirty="0"/>
              <a:t> </a:t>
            </a:r>
            <a:r>
              <a:rPr lang="en-US" dirty="0" err="1"/>
              <a:t>scopuri</a:t>
            </a:r>
            <a:r>
              <a:rPr lang="en-US" dirty="0"/>
              <a:t> </a:t>
            </a:r>
            <a:r>
              <a:rPr lang="en-US" dirty="0" err="1"/>
              <a:t>malițioase</a:t>
            </a:r>
            <a:r>
              <a:rPr lang="en-US" dirty="0"/>
              <a:t>, cum </a:t>
            </a:r>
            <a:r>
              <a:rPr lang="en-US" dirty="0" err="1"/>
              <a:t>ar</a:t>
            </a:r>
            <a:r>
              <a:rPr lang="en-US" dirty="0"/>
              <a:t> fi </a:t>
            </a:r>
            <a:r>
              <a:rPr lang="en-US" dirty="0" err="1"/>
              <a:t>atacurile</a:t>
            </a:r>
            <a:r>
              <a:rPr lang="en-US" dirty="0"/>
              <a:t> </a:t>
            </a:r>
            <a:r>
              <a:rPr lang="en-US" dirty="0" err="1"/>
              <a:t>cibernetice</a:t>
            </a:r>
            <a:r>
              <a:rPr lang="en-US" dirty="0"/>
              <a:t> de tip spear phishing (un tip de phishing </a:t>
            </a:r>
            <a:r>
              <a:rPr lang="en-US" dirty="0" err="1"/>
              <a:t>direcționat</a:t>
            </a:r>
            <a:r>
              <a:rPr lang="en-US" dirty="0"/>
              <a:t>, </a:t>
            </a:r>
            <a:r>
              <a:rPr lang="en-US" dirty="0" err="1"/>
              <a:t>conceput</a:t>
            </a:r>
            <a:r>
              <a:rPr lang="en-US" dirty="0"/>
              <a:t> special </a:t>
            </a:r>
            <a:r>
              <a:rPr lang="en-US" dirty="0" err="1"/>
              <a:t>pentru</a:t>
            </a:r>
            <a:r>
              <a:rPr lang="en-US" dirty="0"/>
              <a:t> o </a:t>
            </a:r>
            <a:r>
              <a:rPr lang="en-US" dirty="0" err="1"/>
              <a:t>anumită</a:t>
            </a:r>
            <a:r>
              <a:rPr lang="en-US" dirty="0"/>
              <a:t> </a:t>
            </a:r>
            <a:r>
              <a:rPr lang="en-US" dirty="0" err="1"/>
              <a:t>persoană</a:t>
            </a:r>
            <a:r>
              <a:rPr lang="en-US" dirty="0"/>
              <a:t> </a:t>
            </a:r>
            <a:r>
              <a:rPr lang="en-US" dirty="0" err="1"/>
              <a:t>sau</a:t>
            </a:r>
            <a:r>
              <a:rPr lang="en-US" dirty="0"/>
              <a:t> un </a:t>
            </a:r>
            <a:r>
              <a:rPr lang="en-US" dirty="0" err="1"/>
              <a:t>grup</a:t>
            </a:r>
            <a:r>
              <a:rPr lang="en-US" dirty="0"/>
              <a:t> </a:t>
            </a:r>
            <a:r>
              <a:rPr lang="en-US" dirty="0" err="1"/>
              <a:t>restrâns</a:t>
            </a:r>
            <a:r>
              <a:rPr lang="en-US" dirty="0"/>
              <a:t>).</a:t>
            </a:r>
          </a:p>
          <a:p>
            <a:endParaRPr lang="en-US" dirty="0"/>
          </a:p>
        </p:txBody>
      </p:sp>
    </p:spTree>
    <p:extLst>
      <p:ext uri="{BB962C8B-B14F-4D97-AF65-F5344CB8AC3E}">
        <p14:creationId xmlns:p14="http://schemas.microsoft.com/office/powerpoint/2010/main" val="63916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1D1375-DD9E-99E1-29D6-66DC22886A17}"/>
              </a:ext>
            </a:extLst>
          </p:cNvPr>
          <p:cNvSpPr>
            <a:spLocks noGrp="1"/>
          </p:cNvSpPr>
          <p:nvPr>
            <p:ph idx="1"/>
          </p:nvPr>
        </p:nvSpPr>
        <p:spPr>
          <a:xfrm>
            <a:off x="103695" y="471341"/>
            <a:ext cx="9445658" cy="5599521"/>
          </a:xfrm>
        </p:spPr>
        <p:txBody>
          <a:bodyPr>
            <a:normAutofit/>
          </a:bodyPr>
          <a:lstStyle/>
          <a:p>
            <a:r>
              <a:rPr lang="en-US" dirty="0" err="1"/>
              <a:t>În</a:t>
            </a:r>
            <a:r>
              <a:rPr lang="en-US" dirty="0"/>
              <a:t> </a:t>
            </a:r>
            <a:r>
              <a:rPr lang="en-US" dirty="0" err="1"/>
              <a:t>mediul</a:t>
            </a:r>
            <a:r>
              <a:rPr lang="en-US" dirty="0"/>
              <a:t> economic, </a:t>
            </a:r>
            <a:r>
              <a:rPr lang="en-US" dirty="0" err="1"/>
              <a:t>datele</a:t>
            </a:r>
            <a:r>
              <a:rPr lang="en-US" dirty="0"/>
              <a:t> </a:t>
            </a:r>
            <a:r>
              <a:rPr lang="en-US" dirty="0" err="1"/>
              <a:t>agregate</a:t>
            </a:r>
            <a:r>
              <a:rPr lang="en-US" dirty="0"/>
              <a:t> sunt </a:t>
            </a:r>
            <a:r>
              <a:rPr lang="en-US" dirty="0" err="1"/>
              <a:t>utilizate</a:t>
            </a:r>
            <a:r>
              <a:rPr lang="en-US" dirty="0"/>
              <a:t> </a:t>
            </a:r>
            <a:r>
              <a:rPr lang="en-US" dirty="0" err="1"/>
              <a:t>și</a:t>
            </a:r>
            <a:r>
              <a:rPr lang="en-US" dirty="0"/>
              <a:t> </a:t>
            </a:r>
            <a:r>
              <a:rPr lang="en-US" dirty="0" err="1"/>
              <a:t>pentru</a:t>
            </a:r>
            <a:r>
              <a:rPr lang="en-US" dirty="0"/>
              <a:t> </a:t>
            </a:r>
            <a:r>
              <a:rPr lang="en-US" dirty="0" err="1"/>
              <a:t>fundamentarea</a:t>
            </a:r>
            <a:r>
              <a:rPr lang="en-US" dirty="0"/>
              <a:t> </a:t>
            </a:r>
            <a:r>
              <a:rPr lang="en-US" dirty="0" err="1"/>
              <a:t>deciziilor</a:t>
            </a:r>
            <a:r>
              <a:rPr lang="en-US" dirty="0"/>
              <a:t> </a:t>
            </a:r>
            <a:r>
              <a:rPr lang="en-US" dirty="0" err="1"/>
              <a:t>strategice</a:t>
            </a:r>
            <a:r>
              <a:rPr lang="en-US" dirty="0"/>
              <a:t> </a:t>
            </a:r>
            <a:r>
              <a:rPr lang="en-US" dirty="0" err="1"/>
              <a:t>privind</a:t>
            </a:r>
            <a:r>
              <a:rPr lang="en-US" dirty="0"/>
              <a:t> </a:t>
            </a:r>
            <a:r>
              <a:rPr lang="en-US" dirty="0" err="1"/>
              <a:t>dezvoltarea</a:t>
            </a:r>
            <a:r>
              <a:rPr lang="en-US" dirty="0"/>
              <a:t> </a:t>
            </a:r>
            <a:r>
              <a:rPr lang="en-US" dirty="0" err="1"/>
              <a:t>produselor</a:t>
            </a:r>
            <a:r>
              <a:rPr lang="en-US" dirty="0"/>
              <a:t>, </a:t>
            </a:r>
            <a:r>
              <a:rPr lang="en-US" dirty="0" err="1"/>
              <a:t>campaniile</a:t>
            </a:r>
            <a:r>
              <a:rPr lang="en-US" dirty="0"/>
              <a:t> de marketing </a:t>
            </a:r>
            <a:r>
              <a:rPr lang="en-US" dirty="0" err="1"/>
              <a:t>sau</a:t>
            </a:r>
            <a:r>
              <a:rPr lang="en-US" dirty="0"/>
              <a:t> </a:t>
            </a:r>
            <a:r>
              <a:rPr lang="en-US" dirty="0" err="1"/>
              <a:t>chiar</a:t>
            </a:r>
            <a:r>
              <a:rPr lang="en-US" dirty="0"/>
              <a:t> </a:t>
            </a:r>
            <a:r>
              <a:rPr lang="en-US" dirty="0" err="1"/>
              <a:t>investițiile</a:t>
            </a:r>
            <a:r>
              <a:rPr lang="en-US" dirty="0"/>
              <a:t> </a:t>
            </a:r>
            <a:r>
              <a:rPr lang="en-US" dirty="0" err="1"/>
              <a:t>în</a:t>
            </a:r>
            <a:r>
              <a:rPr lang="en-US" dirty="0"/>
              <a:t> </a:t>
            </a:r>
            <a:r>
              <a:rPr lang="en-US" dirty="0" err="1"/>
              <a:t>domenii</a:t>
            </a:r>
            <a:r>
              <a:rPr lang="en-US" dirty="0"/>
              <a:t> precum cel </a:t>
            </a:r>
            <a:r>
              <a:rPr lang="en-US" dirty="0" err="1"/>
              <a:t>imobiliar</a:t>
            </a:r>
            <a:r>
              <a:rPr lang="en-US" dirty="0"/>
              <a:t>. </a:t>
            </a:r>
          </a:p>
          <a:p>
            <a:r>
              <a:rPr lang="en-US" dirty="0"/>
              <a:t>Cu </a:t>
            </a:r>
            <a:r>
              <a:rPr lang="en-US" dirty="0" err="1"/>
              <a:t>toate</a:t>
            </a:r>
            <a:r>
              <a:rPr lang="en-US" dirty="0"/>
              <a:t> </a:t>
            </a:r>
            <a:r>
              <a:rPr lang="en-US" dirty="0" err="1"/>
              <a:t>acestea</a:t>
            </a:r>
            <a:r>
              <a:rPr lang="en-US" dirty="0"/>
              <a:t>, </a:t>
            </a:r>
            <a:r>
              <a:rPr lang="en-US" dirty="0" err="1"/>
              <a:t>în</a:t>
            </a:r>
            <a:r>
              <a:rPr lang="en-US" dirty="0"/>
              <a:t> mod </a:t>
            </a:r>
            <a:r>
              <a:rPr lang="en-US" dirty="0" err="1"/>
              <a:t>paradoxal</a:t>
            </a:r>
            <a:r>
              <a:rPr lang="en-US" dirty="0"/>
              <a:t>, </a:t>
            </a:r>
            <a:r>
              <a:rPr lang="en-US" dirty="0" err="1"/>
              <a:t>valoarea</a:t>
            </a:r>
            <a:r>
              <a:rPr lang="en-US" dirty="0"/>
              <a:t> </a:t>
            </a:r>
            <a:r>
              <a:rPr lang="en-US" dirty="0" err="1"/>
              <a:t>individuală</a:t>
            </a:r>
            <a:r>
              <a:rPr lang="en-US" dirty="0"/>
              <a:t> a </a:t>
            </a:r>
            <a:r>
              <a:rPr lang="en-US" dirty="0" err="1"/>
              <a:t>acestor</a:t>
            </a:r>
            <a:r>
              <a:rPr lang="en-US" dirty="0"/>
              <a:t> date </a:t>
            </a:r>
            <a:r>
              <a:rPr lang="en-US" dirty="0" err="1"/>
              <a:t>este</a:t>
            </a:r>
            <a:r>
              <a:rPr lang="en-US" dirty="0"/>
              <a:t> </a:t>
            </a:r>
            <a:r>
              <a:rPr lang="en-US" dirty="0" err="1"/>
              <a:t>relativ</a:t>
            </a:r>
            <a:r>
              <a:rPr lang="en-US" dirty="0"/>
              <a:t> </a:t>
            </a:r>
            <a:r>
              <a:rPr lang="en-US" dirty="0" err="1"/>
              <a:t>scăzută</a:t>
            </a:r>
            <a:r>
              <a:rPr lang="en-US" dirty="0"/>
              <a:t>, </a:t>
            </a:r>
            <a:r>
              <a:rPr lang="en-US" dirty="0" err="1"/>
              <a:t>fiind</a:t>
            </a:r>
            <a:r>
              <a:rPr lang="en-US" dirty="0"/>
              <a:t> </a:t>
            </a:r>
            <a:r>
              <a:rPr lang="en-US" dirty="0" err="1"/>
              <a:t>tranzacționate</a:t>
            </a:r>
            <a:r>
              <a:rPr lang="en-US" dirty="0"/>
              <a:t>, de </a:t>
            </a:r>
            <a:r>
              <a:rPr lang="en-US" dirty="0" err="1"/>
              <a:t>regulă</a:t>
            </a:r>
            <a:r>
              <a:rPr lang="en-US" dirty="0"/>
              <a:t>, </a:t>
            </a:r>
            <a:r>
              <a:rPr lang="en-US" dirty="0" err="1"/>
              <a:t>în</a:t>
            </a:r>
            <a:r>
              <a:rPr lang="en-US" dirty="0"/>
              <a:t> volume </a:t>
            </a:r>
            <a:r>
              <a:rPr lang="en-US" dirty="0" err="1"/>
              <a:t>mari</a:t>
            </a:r>
            <a:r>
              <a:rPr lang="en-US" dirty="0"/>
              <a:t> (batch-</a:t>
            </a:r>
            <a:r>
              <a:rPr lang="en-US" dirty="0" err="1"/>
              <a:t>uri</a:t>
            </a:r>
            <a:r>
              <a:rPr lang="en-US" dirty="0"/>
              <a:t>), </a:t>
            </a:r>
            <a:r>
              <a:rPr lang="en-US" dirty="0" err="1"/>
              <a:t>ceea</a:t>
            </a:r>
            <a:r>
              <a:rPr lang="en-US" dirty="0"/>
              <a:t> </a:t>
            </a:r>
            <a:r>
              <a:rPr lang="en-US" dirty="0" err="1"/>
              <a:t>ce</a:t>
            </a:r>
            <a:r>
              <a:rPr lang="en-US" dirty="0"/>
              <a:t> face ca </a:t>
            </a:r>
            <a:r>
              <a:rPr lang="en-US" dirty="0" err="1"/>
              <a:t>informațiile</a:t>
            </a:r>
            <a:r>
              <a:rPr lang="en-US" dirty="0"/>
              <a:t> </a:t>
            </a:r>
            <a:r>
              <a:rPr lang="en-US" dirty="0" err="1"/>
              <a:t>despre</a:t>
            </a:r>
            <a:r>
              <a:rPr lang="en-US" dirty="0"/>
              <a:t> o </a:t>
            </a:r>
            <a:r>
              <a:rPr lang="en-US" dirty="0" err="1"/>
              <a:t>singură</a:t>
            </a:r>
            <a:r>
              <a:rPr lang="en-US" dirty="0"/>
              <a:t> </a:t>
            </a:r>
            <a:r>
              <a:rPr lang="en-US" dirty="0" err="1"/>
              <a:t>persoană</a:t>
            </a:r>
            <a:r>
              <a:rPr lang="en-US" dirty="0"/>
              <a:t> </a:t>
            </a:r>
            <a:r>
              <a:rPr lang="en-US" dirty="0" err="1"/>
              <a:t>să</a:t>
            </a:r>
            <a:r>
              <a:rPr lang="en-US" dirty="0"/>
              <a:t> </a:t>
            </a:r>
            <a:r>
              <a:rPr lang="en-US" dirty="0" err="1"/>
              <a:t>valoreze</a:t>
            </a:r>
            <a:r>
              <a:rPr lang="en-US" dirty="0"/>
              <a:t> </a:t>
            </a:r>
            <a:r>
              <a:rPr lang="en-US" dirty="0" err="1"/>
              <a:t>adesea</a:t>
            </a:r>
            <a:r>
              <a:rPr lang="en-US" dirty="0"/>
              <a:t> </a:t>
            </a:r>
            <a:r>
              <a:rPr lang="en-US" dirty="0" err="1"/>
              <a:t>doar</a:t>
            </a:r>
            <a:r>
              <a:rPr lang="en-US" dirty="0"/>
              <a:t> </a:t>
            </a:r>
            <a:r>
              <a:rPr lang="en-US" dirty="0" err="1"/>
              <a:t>câțiva</a:t>
            </a:r>
            <a:r>
              <a:rPr lang="en-US" dirty="0"/>
              <a:t> </a:t>
            </a:r>
            <a:r>
              <a:rPr lang="en-US" dirty="0" err="1"/>
              <a:t>cenți</a:t>
            </a:r>
            <a:r>
              <a:rPr lang="en-US" dirty="0"/>
              <a:t> </a:t>
            </a:r>
            <a:r>
              <a:rPr lang="en-US" dirty="0" err="1"/>
              <a:t>sau</a:t>
            </a:r>
            <a:r>
              <a:rPr lang="en-US" dirty="0"/>
              <a:t> </a:t>
            </a:r>
            <a:r>
              <a:rPr lang="en-US" dirty="0" err="1"/>
              <a:t>chiar</a:t>
            </a:r>
            <a:r>
              <a:rPr lang="en-US" dirty="0"/>
              <a:t> </a:t>
            </a:r>
            <a:r>
              <a:rPr lang="en-US" dirty="0" err="1"/>
              <a:t>mai</a:t>
            </a:r>
            <a:r>
              <a:rPr lang="en-US" dirty="0"/>
              <a:t> </a:t>
            </a:r>
            <a:r>
              <a:rPr lang="en-US" dirty="0" err="1"/>
              <a:t>puțin</a:t>
            </a:r>
            <a:r>
              <a:rPr lang="en-US" dirty="0"/>
              <a:t> de un </a:t>
            </a:r>
            <a:r>
              <a:rPr lang="en-US" dirty="0" err="1"/>
              <a:t>dolar.În</a:t>
            </a:r>
            <a:r>
              <a:rPr lang="en-US" dirty="0"/>
              <a:t> </a:t>
            </a:r>
            <a:r>
              <a:rPr lang="en-US" dirty="0" err="1"/>
              <a:t>ceea</a:t>
            </a:r>
            <a:r>
              <a:rPr lang="en-US" dirty="0"/>
              <a:t> </a:t>
            </a:r>
            <a:r>
              <a:rPr lang="en-US" dirty="0" err="1"/>
              <a:t>ce</a:t>
            </a:r>
            <a:r>
              <a:rPr lang="en-US" dirty="0"/>
              <a:t> </a:t>
            </a:r>
            <a:r>
              <a:rPr lang="en-US" dirty="0" err="1"/>
              <a:t>privește</a:t>
            </a:r>
            <a:r>
              <a:rPr lang="en-US" dirty="0"/>
              <a:t> </a:t>
            </a:r>
            <a:r>
              <a:rPr lang="en-US" dirty="0" err="1"/>
              <a:t>protecția</a:t>
            </a:r>
            <a:r>
              <a:rPr lang="en-US" dirty="0"/>
              <a:t> </a:t>
            </a:r>
            <a:r>
              <a:rPr lang="en-US" dirty="0" err="1"/>
              <a:t>datelor</a:t>
            </a:r>
            <a:r>
              <a:rPr lang="en-US" dirty="0"/>
              <a:t>, nu </a:t>
            </a:r>
            <a:r>
              <a:rPr lang="en-US" dirty="0" err="1"/>
              <a:t>există</a:t>
            </a:r>
            <a:r>
              <a:rPr lang="en-US" dirty="0"/>
              <a:t> </a:t>
            </a:r>
            <a:r>
              <a:rPr lang="en-US" dirty="0" err="1"/>
              <a:t>soluții</a:t>
            </a:r>
            <a:r>
              <a:rPr lang="en-US" dirty="0"/>
              <a:t> complete </a:t>
            </a:r>
            <a:r>
              <a:rPr lang="en-US" dirty="0" err="1"/>
              <a:t>și</a:t>
            </a:r>
            <a:r>
              <a:rPr lang="en-US" dirty="0"/>
              <a:t> </a:t>
            </a:r>
            <a:r>
              <a:rPr lang="en-US" dirty="0" err="1"/>
              <a:t>infailibile</a:t>
            </a:r>
            <a:r>
              <a:rPr lang="en-US" dirty="0"/>
              <a:t>. </a:t>
            </a:r>
            <a:r>
              <a:rPr lang="en-US" dirty="0" err="1"/>
              <a:t>Chiar</a:t>
            </a:r>
            <a:r>
              <a:rPr lang="en-US" dirty="0"/>
              <a:t> </a:t>
            </a:r>
            <a:r>
              <a:rPr lang="en-US" dirty="0" err="1"/>
              <a:t>și</a:t>
            </a:r>
            <a:r>
              <a:rPr lang="en-US" dirty="0"/>
              <a:t> </a:t>
            </a:r>
            <a:r>
              <a:rPr lang="en-US" dirty="0" err="1"/>
              <a:t>în</a:t>
            </a:r>
            <a:r>
              <a:rPr lang="en-US" dirty="0"/>
              <a:t> </a:t>
            </a:r>
            <a:r>
              <a:rPr lang="en-US" dirty="0" err="1"/>
              <a:t>cazul</a:t>
            </a:r>
            <a:r>
              <a:rPr lang="en-US" dirty="0"/>
              <a:t> </a:t>
            </a:r>
            <a:r>
              <a:rPr lang="en-US" dirty="0" err="1"/>
              <a:t>utilizării</a:t>
            </a:r>
            <a:r>
              <a:rPr lang="en-US" dirty="0"/>
              <a:t> </a:t>
            </a:r>
            <a:r>
              <a:rPr lang="en-US" dirty="0" err="1"/>
              <a:t>unui</a:t>
            </a:r>
            <a:r>
              <a:rPr lang="en-US" dirty="0"/>
              <a:t> VPN, care </a:t>
            </a:r>
            <a:r>
              <a:rPr lang="en-US" dirty="0" err="1"/>
              <a:t>poate</a:t>
            </a:r>
            <a:r>
              <a:rPr lang="en-US" dirty="0"/>
              <a:t> </a:t>
            </a:r>
            <a:r>
              <a:rPr lang="en-US" dirty="0" err="1"/>
              <a:t>ascunde</a:t>
            </a:r>
            <a:r>
              <a:rPr lang="en-US" dirty="0"/>
              <a:t> </a:t>
            </a:r>
            <a:r>
              <a:rPr lang="en-US" dirty="0" err="1"/>
              <a:t>locația</a:t>
            </a:r>
            <a:r>
              <a:rPr lang="en-US" dirty="0"/>
              <a:t>, </a:t>
            </a:r>
            <a:r>
              <a:rPr lang="en-US" dirty="0" err="1"/>
              <a:t>alte</a:t>
            </a:r>
            <a:r>
              <a:rPr lang="en-US" dirty="0"/>
              <a:t> </a:t>
            </a:r>
            <a:r>
              <a:rPr lang="en-US" dirty="0" err="1"/>
              <a:t>tipuri</a:t>
            </a:r>
            <a:r>
              <a:rPr lang="en-US" dirty="0"/>
              <a:t> de </a:t>
            </a:r>
            <a:r>
              <a:rPr lang="en-US" dirty="0" err="1"/>
              <a:t>informații</a:t>
            </a:r>
            <a:r>
              <a:rPr lang="en-US" dirty="0"/>
              <a:t> pot fi </a:t>
            </a:r>
            <a:r>
              <a:rPr lang="en-US" dirty="0" err="1"/>
              <a:t>în</a:t>
            </a:r>
            <a:r>
              <a:rPr lang="en-US" dirty="0"/>
              <a:t> </a:t>
            </a:r>
            <a:r>
              <a:rPr lang="en-US" dirty="0" err="1"/>
              <a:t>continuare</a:t>
            </a:r>
            <a:r>
              <a:rPr lang="en-US" dirty="0"/>
              <a:t> </a:t>
            </a:r>
            <a:r>
              <a:rPr lang="en-US" dirty="0" err="1"/>
              <a:t>colectate</a:t>
            </a:r>
            <a:r>
              <a:rPr lang="en-US" dirty="0"/>
              <a:t>. De </a:t>
            </a:r>
            <a:r>
              <a:rPr lang="en-US" dirty="0" err="1"/>
              <a:t>asemenea</a:t>
            </a:r>
            <a:r>
              <a:rPr lang="en-US" dirty="0"/>
              <a:t>, </a:t>
            </a:r>
            <a:r>
              <a:rPr lang="en-US" dirty="0" err="1"/>
              <a:t>blocarea</a:t>
            </a:r>
            <a:r>
              <a:rPr lang="en-US" dirty="0"/>
              <a:t> </a:t>
            </a:r>
            <a:r>
              <a:rPr lang="en-US" dirty="0" err="1"/>
              <a:t>tuturor</a:t>
            </a:r>
            <a:r>
              <a:rPr lang="en-US" dirty="0"/>
              <a:t> cookie-</a:t>
            </a:r>
            <a:r>
              <a:rPr lang="en-US" dirty="0" err="1"/>
              <a:t>urilor</a:t>
            </a:r>
            <a:r>
              <a:rPr lang="en-US" dirty="0"/>
              <a:t>, cu </a:t>
            </a:r>
            <a:r>
              <a:rPr lang="en-US" dirty="0" err="1"/>
              <a:t>excepția</a:t>
            </a:r>
            <a:r>
              <a:rPr lang="en-US" dirty="0"/>
              <a:t> </a:t>
            </a:r>
            <a:r>
              <a:rPr lang="en-US" dirty="0" err="1"/>
              <a:t>celor</a:t>
            </a:r>
            <a:r>
              <a:rPr lang="en-US" dirty="0"/>
              <a:t> strict </a:t>
            </a:r>
            <a:r>
              <a:rPr lang="en-US" dirty="0" err="1"/>
              <a:t>necesare</a:t>
            </a:r>
            <a:r>
              <a:rPr lang="en-US" dirty="0"/>
              <a:t> </a:t>
            </a:r>
            <a:r>
              <a:rPr lang="en-US" dirty="0" err="1"/>
              <a:t>funcționării</a:t>
            </a:r>
            <a:r>
              <a:rPr lang="en-US" dirty="0"/>
              <a:t> site-</a:t>
            </a:r>
            <a:r>
              <a:rPr lang="en-US" dirty="0" err="1"/>
              <a:t>ului</a:t>
            </a:r>
            <a:r>
              <a:rPr lang="en-US" dirty="0"/>
              <a:t>, reduce </a:t>
            </a:r>
            <a:r>
              <a:rPr lang="en-US" dirty="0" err="1"/>
              <a:t>semnificativ</a:t>
            </a:r>
            <a:r>
              <a:rPr lang="en-US" dirty="0"/>
              <a:t> </a:t>
            </a:r>
            <a:r>
              <a:rPr lang="en-US" dirty="0" err="1"/>
              <a:t>cantitatea</a:t>
            </a:r>
            <a:r>
              <a:rPr lang="en-US" dirty="0"/>
              <a:t> de date </a:t>
            </a:r>
            <a:r>
              <a:rPr lang="en-US" dirty="0" err="1"/>
              <a:t>colectate</a:t>
            </a:r>
            <a:r>
              <a:rPr lang="en-US" dirty="0"/>
              <a:t>, </a:t>
            </a:r>
            <a:r>
              <a:rPr lang="en-US" dirty="0" err="1"/>
              <a:t>însă</a:t>
            </a:r>
            <a:r>
              <a:rPr lang="en-US" dirty="0"/>
              <a:t> nu </a:t>
            </a:r>
            <a:r>
              <a:rPr lang="en-US" dirty="0" err="1"/>
              <a:t>elimină</a:t>
            </a:r>
            <a:r>
              <a:rPr lang="en-US" dirty="0"/>
              <a:t> </a:t>
            </a:r>
            <a:r>
              <a:rPr lang="en-US" dirty="0" err="1"/>
              <a:t>complet</a:t>
            </a:r>
            <a:r>
              <a:rPr lang="en-US" dirty="0"/>
              <a:t> </a:t>
            </a:r>
            <a:r>
              <a:rPr lang="en-US" dirty="0" err="1"/>
              <a:t>acest</a:t>
            </a:r>
            <a:r>
              <a:rPr lang="en-US" dirty="0"/>
              <a:t> </a:t>
            </a:r>
            <a:r>
              <a:rPr lang="en-US" dirty="0" err="1"/>
              <a:t>proces</a:t>
            </a:r>
            <a:r>
              <a:rPr lang="en-US" dirty="0"/>
              <a:t>. </a:t>
            </a:r>
          </a:p>
          <a:p>
            <a:r>
              <a:rPr lang="en-US" dirty="0" err="1"/>
              <a:t>În</a:t>
            </a:r>
            <a:r>
              <a:rPr lang="en-US" dirty="0"/>
              <a:t> </a:t>
            </a:r>
            <a:r>
              <a:rPr lang="en-US" dirty="0" err="1"/>
              <a:t>contextul</a:t>
            </a:r>
            <a:r>
              <a:rPr lang="en-US" dirty="0"/>
              <a:t> actual, </a:t>
            </a:r>
            <a:r>
              <a:rPr lang="en-US" dirty="0" err="1"/>
              <a:t>devine</a:t>
            </a:r>
            <a:r>
              <a:rPr lang="en-US" dirty="0"/>
              <a:t> </a:t>
            </a:r>
            <a:r>
              <a:rPr lang="en-US" dirty="0" err="1"/>
              <a:t>esențială</a:t>
            </a:r>
            <a:r>
              <a:rPr lang="en-US" dirty="0"/>
              <a:t> </a:t>
            </a:r>
            <a:r>
              <a:rPr lang="en-US" dirty="0" err="1"/>
              <a:t>adoptarea</a:t>
            </a:r>
            <a:r>
              <a:rPr lang="en-US" dirty="0"/>
              <a:t> </a:t>
            </a:r>
            <a:r>
              <a:rPr lang="en-US" dirty="0" err="1"/>
              <a:t>unor</a:t>
            </a:r>
            <a:r>
              <a:rPr lang="en-US" dirty="0"/>
              <a:t> </a:t>
            </a:r>
            <a:r>
              <a:rPr lang="en-US" dirty="0" err="1"/>
              <a:t>măsuri</a:t>
            </a:r>
            <a:r>
              <a:rPr lang="en-US" dirty="0"/>
              <a:t> de </a:t>
            </a:r>
            <a:r>
              <a:rPr lang="en-US" dirty="0" err="1"/>
              <a:t>minimizare</a:t>
            </a:r>
            <a:r>
              <a:rPr lang="en-US" dirty="0"/>
              <a:t> a </a:t>
            </a:r>
            <a:r>
              <a:rPr lang="en-US" dirty="0" err="1"/>
              <a:t>colectării</a:t>
            </a:r>
            <a:r>
              <a:rPr lang="en-US" dirty="0"/>
              <a:t> </a:t>
            </a:r>
            <a:r>
              <a:rPr lang="en-US" dirty="0" err="1"/>
              <a:t>datelor</a:t>
            </a:r>
            <a:r>
              <a:rPr lang="en-US" dirty="0"/>
              <a:t>, </a:t>
            </a:r>
            <a:r>
              <a:rPr lang="en-US" dirty="0" err="1"/>
              <a:t>în</a:t>
            </a:r>
            <a:r>
              <a:rPr lang="en-US" dirty="0"/>
              <a:t> </a:t>
            </a:r>
            <a:r>
              <a:rPr lang="en-US" dirty="0" err="1"/>
              <a:t>vederea</a:t>
            </a:r>
            <a:r>
              <a:rPr lang="en-US" dirty="0"/>
              <a:t> </a:t>
            </a:r>
            <a:r>
              <a:rPr lang="en-US" dirty="0" err="1"/>
              <a:t>protejării</a:t>
            </a:r>
            <a:r>
              <a:rPr lang="en-US" dirty="0"/>
              <a:t> </a:t>
            </a:r>
            <a:r>
              <a:rPr lang="en-US" dirty="0" err="1"/>
              <a:t>intimității</a:t>
            </a:r>
            <a:r>
              <a:rPr lang="en-US" dirty="0"/>
              <a:t> </a:t>
            </a:r>
            <a:r>
              <a:rPr lang="en-US" dirty="0" err="1"/>
              <a:t>și</a:t>
            </a:r>
            <a:r>
              <a:rPr lang="en-US" dirty="0"/>
              <a:t> a </a:t>
            </a:r>
            <a:r>
              <a:rPr lang="en-US" dirty="0" err="1"/>
              <a:t>securității</a:t>
            </a:r>
            <a:r>
              <a:rPr lang="en-US" dirty="0"/>
              <a:t> </a:t>
            </a:r>
            <a:r>
              <a:rPr lang="en-US" dirty="0" err="1"/>
              <a:t>utilizatorilor</a:t>
            </a:r>
            <a:r>
              <a:rPr lang="en-US" dirty="0"/>
              <a:t>.</a:t>
            </a:r>
          </a:p>
          <a:p>
            <a:endParaRPr lang="en-US" dirty="0"/>
          </a:p>
        </p:txBody>
      </p:sp>
    </p:spTree>
    <p:extLst>
      <p:ext uri="{BB962C8B-B14F-4D97-AF65-F5344CB8AC3E}">
        <p14:creationId xmlns:p14="http://schemas.microsoft.com/office/powerpoint/2010/main" val="675045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9CA37-EC16-E2A9-0124-2B7C17D9CA8C}"/>
              </a:ext>
            </a:extLst>
          </p:cNvPr>
          <p:cNvSpPr>
            <a:spLocks noGrp="1"/>
          </p:cNvSpPr>
          <p:nvPr>
            <p:ph type="title"/>
          </p:nvPr>
        </p:nvSpPr>
        <p:spPr/>
        <p:txBody>
          <a:bodyPr/>
          <a:lstStyle/>
          <a:p>
            <a:r>
              <a:rPr lang="en-US" dirty="0" err="1"/>
              <a:t>Scopul</a:t>
            </a:r>
            <a:r>
              <a:rPr lang="en-US" dirty="0"/>
              <a:t> </a:t>
            </a:r>
            <a:r>
              <a:rPr lang="en-US" dirty="0" err="1"/>
              <a:t>Proiectului</a:t>
            </a:r>
            <a:endParaRPr lang="en-US" dirty="0"/>
          </a:p>
        </p:txBody>
      </p:sp>
      <p:sp>
        <p:nvSpPr>
          <p:cNvPr id="3" name="Content Placeholder 2">
            <a:extLst>
              <a:ext uri="{FF2B5EF4-FFF2-40B4-BE49-F238E27FC236}">
                <a16:creationId xmlns:a16="http://schemas.microsoft.com/office/drawing/2014/main" id="{3409B05C-911A-89A0-99EC-A78CE2E1379C}"/>
              </a:ext>
            </a:extLst>
          </p:cNvPr>
          <p:cNvSpPr>
            <a:spLocks noGrp="1"/>
          </p:cNvSpPr>
          <p:nvPr>
            <p:ph idx="1"/>
          </p:nvPr>
        </p:nvSpPr>
        <p:spPr/>
        <p:txBody>
          <a:bodyPr>
            <a:noAutofit/>
          </a:bodyPr>
          <a:lstStyle/>
          <a:p>
            <a:r>
              <a:rPr lang="en-US" dirty="0"/>
              <a:t>Web scraping </a:t>
            </a:r>
            <a:r>
              <a:rPr lang="en-US" dirty="0" err="1"/>
              <a:t>pentru</a:t>
            </a:r>
            <a:r>
              <a:rPr lang="en-US" dirty="0"/>
              <a:t> a </a:t>
            </a:r>
            <a:r>
              <a:rPr lang="en-US" dirty="0" err="1"/>
              <a:t>colecta</a:t>
            </a:r>
            <a:r>
              <a:rPr lang="en-US" dirty="0"/>
              <a:t> date </a:t>
            </a:r>
            <a:r>
              <a:rPr lang="en-US" dirty="0" err="1"/>
              <a:t>pentru</a:t>
            </a:r>
            <a:r>
              <a:rPr lang="en-US" dirty="0"/>
              <a:t> a </a:t>
            </a:r>
            <a:r>
              <a:rPr lang="en-US" dirty="0" err="1"/>
              <a:t>antrena</a:t>
            </a:r>
            <a:r>
              <a:rPr lang="en-US" dirty="0"/>
              <a:t> </a:t>
            </a:r>
            <a:r>
              <a:rPr lang="en-US" dirty="0" err="1"/>
              <a:t>modelele</a:t>
            </a:r>
            <a:endParaRPr lang="en-US" dirty="0"/>
          </a:p>
          <a:p>
            <a:r>
              <a:rPr lang="en-US" dirty="0" err="1"/>
              <a:t>Folosirea</a:t>
            </a:r>
            <a:r>
              <a:rPr lang="en-US" dirty="0"/>
              <a:t> </a:t>
            </a:r>
            <a:r>
              <a:rPr lang="en-US" dirty="0" err="1"/>
              <a:t>datelor</a:t>
            </a:r>
            <a:r>
              <a:rPr lang="en-US" dirty="0"/>
              <a:t> </a:t>
            </a:r>
            <a:r>
              <a:rPr lang="en-US" dirty="0" err="1"/>
              <a:t>pentru</a:t>
            </a:r>
            <a:r>
              <a:rPr lang="en-US" dirty="0"/>
              <a:t> a </a:t>
            </a:r>
            <a:r>
              <a:rPr lang="en-US" dirty="0" err="1"/>
              <a:t>antrena</a:t>
            </a:r>
            <a:r>
              <a:rPr lang="en-US" dirty="0"/>
              <a:t> un model SOTA (state of the art)</a:t>
            </a:r>
          </a:p>
          <a:p>
            <a:r>
              <a:rPr lang="en-US" dirty="0" err="1"/>
              <a:t>Antrenarea</a:t>
            </a:r>
            <a:r>
              <a:rPr lang="en-US" dirty="0"/>
              <a:t> </a:t>
            </a:r>
            <a:r>
              <a:rPr lang="ro-RO" dirty="0"/>
              <a:t>ș</a:t>
            </a:r>
            <a:r>
              <a:rPr lang="en-US" dirty="0" err="1"/>
              <a:t>i</a:t>
            </a:r>
            <a:r>
              <a:rPr lang="en-US" dirty="0"/>
              <a:t> fine</a:t>
            </a:r>
            <a:r>
              <a:rPr lang="ro-RO" dirty="0"/>
              <a:t>-</a:t>
            </a:r>
            <a:r>
              <a:rPr lang="en-US" dirty="0" err="1"/>
              <a:t>tunarea</a:t>
            </a:r>
            <a:r>
              <a:rPr lang="en-US" dirty="0"/>
              <a:t> </a:t>
            </a:r>
            <a:r>
              <a:rPr lang="en-US" dirty="0" err="1"/>
              <a:t>mai</a:t>
            </a:r>
            <a:r>
              <a:rPr lang="en-US" dirty="0"/>
              <a:t> </a:t>
            </a:r>
            <a:r>
              <a:rPr lang="en-US" dirty="0" err="1"/>
              <a:t>multor</a:t>
            </a:r>
            <a:r>
              <a:rPr lang="en-US" dirty="0"/>
              <a:t> </a:t>
            </a:r>
            <a:r>
              <a:rPr lang="en-US" dirty="0" err="1"/>
              <a:t>modele</a:t>
            </a:r>
            <a:r>
              <a:rPr lang="en-US" dirty="0"/>
              <a:t> </a:t>
            </a:r>
            <a:r>
              <a:rPr lang="en-US" dirty="0" err="1"/>
              <a:t>pentru</a:t>
            </a:r>
            <a:r>
              <a:rPr lang="en-US" dirty="0"/>
              <a:t> a </a:t>
            </a:r>
            <a:r>
              <a:rPr lang="en-US" dirty="0" err="1"/>
              <a:t>determina</a:t>
            </a:r>
            <a:r>
              <a:rPr lang="en-US" dirty="0"/>
              <a:t> cel </a:t>
            </a:r>
            <a:r>
              <a:rPr lang="en-US" dirty="0" err="1"/>
              <a:t>mai</a:t>
            </a:r>
            <a:r>
              <a:rPr lang="en-US" dirty="0"/>
              <a:t> </a:t>
            </a:r>
            <a:r>
              <a:rPr lang="en-US" dirty="0" err="1"/>
              <a:t>potrivit</a:t>
            </a:r>
            <a:r>
              <a:rPr lang="en-US" dirty="0"/>
              <a:t> </a:t>
            </a:r>
            <a:r>
              <a:rPr lang="en-US" dirty="0" err="1"/>
              <a:t>pentru</a:t>
            </a:r>
            <a:r>
              <a:rPr lang="en-US" dirty="0"/>
              <a:t> task (</a:t>
            </a:r>
            <a:r>
              <a:rPr lang="en-US" dirty="0" err="1"/>
              <a:t>acurate</a:t>
            </a:r>
            <a:r>
              <a:rPr lang="ro-RO" dirty="0"/>
              <a:t>ț</a:t>
            </a:r>
            <a:r>
              <a:rPr lang="en-US" dirty="0" err="1"/>
              <a:t>ea</a:t>
            </a:r>
            <a:r>
              <a:rPr lang="en-US" dirty="0"/>
              <a:t> </a:t>
            </a:r>
            <a:r>
              <a:rPr lang="en-US" dirty="0" err="1"/>
              <a:t>cea</a:t>
            </a:r>
            <a:r>
              <a:rPr lang="en-US" dirty="0"/>
              <a:t> </a:t>
            </a:r>
            <a:r>
              <a:rPr lang="en-US" dirty="0" err="1"/>
              <a:t>mai</a:t>
            </a:r>
            <a:r>
              <a:rPr lang="en-US" dirty="0"/>
              <a:t> mare </a:t>
            </a:r>
            <a:r>
              <a:rPr lang="en-US" dirty="0" err="1"/>
              <a:t>este</a:t>
            </a:r>
            <a:r>
              <a:rPr lang="en-US" dirty="0"/>
              <a:t> </a:t>
            </a:r>
            <a:r>
              <a:rPr lang="en-US" dirty="0" err="1"/>
              <a:t>imporant</a:t>
            </a:r>
            <a:r>
              <a:rPr lang="ro-RO" dirty="0"/>
              <a:t>ă</a:t>
            </a:r>
            <a:r>
              <a:rPr lang="en-US" dirty="0"/>
              <a:t> precum </a:t>
            </a:r>
            <a:r>
              <a:rPr lang="ro-RO" dirty="0"/>
              <a:t>ș</a:t>
            </a:r>
            <a:r>
              <a:rPr lang="en-US" dirty="0" err="1"/>
              <a:t>i</a:t>
            </a:r>
            <a:r>
              <a:rPr lang="en-US" dirty="0"/>
              <a:t> </a:t>
            </a:r>
            <a:r>
              <a:rPr lang="en-US" dirty="0" err="1"/>
              <a:t>clasificarea</a:t>
            </a:r>
            <a:r>
              <a:rPr lang="en-US" dirty="0"/>
              <a:t> cookie-</a:t>
            </a:r>
            <a:r>
              <a:rPr lang="en-US" dirty="0" err="1"/>
              <a:t>urilor</a:t>
            </a:r>
            <a:r>
              <a:rPr lang="en-US" dirty="0"/>
              <a:t> strict </a:t>
            </a:r>
            <a:r>
              <a:rPr lang="en-US" dirty="0" err="1"/>
              <a:t>necesare</a:t>
            </a:r>
            <a:r>
              <a:rPr lang="en-US" dirty="0"/>
              <a:t>, </a:t>
            </a:r>
            <a:r>
              <a:rPr lang="en-US" dirty="0" err="1"/>
              <a:t>acestea</a:t>
            </a:r>
            <a:r>
              <a:rPr lang="en-US" dirty="0"/>
              <a:t> </a:t>
            </a:r>
            <a:r>
              <a:rPr lang="en-US" dirty="0" err="1"/>
              <a:t>fiind</a:t>
            </a:r>
            <a:r>
              <a:rPr lang="en-US" dirty="0"/>
              <a:t> </a:t>
            </a:r>
            <a:r>
              <a:rPr lang="en-US" dirty="0" err="1"/>
              <a:t>cele</a:t>
            </a:r>
            <a:r>
              <a:rPr lang="en-US" dirty="0"/>
              <a:t> </a:t>
            </a:r>
            <a:r>
              <a:rPr lang="en-US" dirty="0" err="1"/>
              <a:t>mai</a:t>
            </a:r>
            <a:r>
              <a:rPr lang="en-US" dirty="0"/>
              <a:t> </a:t>
            </a:r>
            <a:r>
              <a:rPr lang="en-US" dirty="0" err="1"/>
              <a:t>importante</a:t>
            </a:r>
            <a:r>
              <a:rPr lang="en-US" dirty="0"/>
              <a:t> de </a:t>
            </a:r>
            <a:r>
              <a:rPr lang="en-US" dirty="0" err="1"/>
              <a:t>clasificat</a:t>
            </a:r>
            <a:r>
              <a:rPr lang="en-US" dirty="0"/>
              <a:t> </a:t>
            </a:r>
            <a:r>
              <a:rPr lang="en-US" dirty="0" err="1"/>
              <a:t>corect</a:t>
            </a:r>
            <a:r>
              <a:rPr lang="en-US" dirty="0"/>
              <a:t>)</a:t>
            </a:r>
          </a:p>
          <a:p>
            <a:r>
              <a:rPr lang="en-US" dirty="0" err="1"/>
              <a:t>Aplicația</a:t>
            </a:r>
            <a:r>
              <a:rPr lang="en-US" dirty="0"/>
              <a:t> </a:t>
            </a:r>
            <a:r>
              <a:rPr lang="en-US" dirty="0" err="1"/>
              <a:t>propusă</a:t>
            </a:r>
            <a:r>
              <a:rPr lang="en-US" dirty="0"/>
              <a:t> </a:t>
            </a:r>
            <a:r>
              <a:rPr lang="en-US" dirty="0" err="1"/>
              <a:t>integrează</a:t>
            </a:r>
            <a:r>
              <a:rPr lang="en-US" dirty="0"/>
              <a:t> un model de tip SOTA </a:t>
            </a:r>
            <a:r>
              <a:rPr lang="en-US" dirty="0" err="1"/>
              <a:t>într</a:t>
            </a:r>
            <a:r>
              <a:rPr lang="en-US" dirty="0"/>
              <a:t>-un </a:t>
            </a:r>
            <a:r>
              <a:rPr lang="en-US" dirty="0" err="1"/>
              <a:t>mediu</a:t>
            </a:r>
            <a:r>
              <a:rPr lang="en-US" dirty="0"/>
              <a:t> desktop, </a:t>
            </a:r>
            <a:r>
              <a:rPr lang="en-US" dirty="0" err="1"/>
              <a:t>având</a:t>
            </a:r>
            <a:r>
              <a:rPr lang="en-US" dirty="0"/>
              <a:t> ca scop </a:t>
            </a:r>
            <a:r>
              <a:rPr lang="en-US" dirty="0" err="1"/>
              <a:t>clasificarea</a:t>
            </a:r>
            <a:r>
              <a:rPr lang="en-US" dirty="0"/>
              <a:t> </a:t>
            </a:r>
            <a:r>
              <a:rPr lang="en-US" dirty="0" err="1"/>
              <a:t>și</a:t>
            </a:r>
            <a:r>
              <a:rPr lang="en-US" dirty="0"/>
              <a:t> </a:t>
            </a:r>
            <a:r>
              <a:rPr lang="en-US" dirty="0" err="1"/>
              <a:t>blocarea</a:t>
            </a:r>
            <a:r>
              <a:rPr lang="en-US" dirty="0"/>
              <a:t> cookie-</a:t>
            </a:r>
            <a:r>
              <a:rPr lang="en-US" dirty="0" err="1"/>
              <a:t>urilor</a:t>
            </a:r>
            <a:r>
              <a:rPr lang="en-US" dirty="0"/>
              <a:t> </a:t>
            </a:r>
            <a:r>
              <a:rPr lang="en-US" dirty="0" err="1"/>
              <a:t>în</a:t>
            </a:r>
            <a:r>
              <a:rPr lang="en-US" dirty="0"/>
              <a:t> </a:t>
            </a:r>
            <a:r>
              <a:rPr lang="en-US" dirty="0" err="1"/>
              <a:t>funcție</a:t>
            </a:r>
            <a:r>
              <a:rPr lang="en-US" dirty="0"/>
              <a:t> de </a:t>
            </a:r>
            <a:r>
              <a:rPr lang="en-US" dirty="0" err="1"/>
              <a:t>destinația</a:t>
            </a:r>
            <a:r>
              <a:rPr lang="en-US" dirty="0"/>
              <a:t> </a:t>
            </a:r>
            <a:r>
              <a:rPr lang="en-US" dirty="0" err="1"/>
              <a:t>acestora</a:t>
            </a:r>
            <a:r>
              <a:rPr lang="en-US" dirty="0"/>
              <a:t> (strict </a:t>
            </a:r>
            <a:r>
              <a:rPr lang="en-US" dirty="0" err="1"/>
              <a:t>necesare</a:t>
            </a:r>
            <a:r>
              <a:rPr lang="en-US" dirty="0"/>
              <a:t>, </a:t>
            </a:r>
            <a:r>
              <a:rPr lang="en-US" dirty="0" err="1"/>
              <a:t>preferințe</a:t>
            </a:r>
            <a:r>
              <a:rPr lang="en-US" dirty="0"/>
              <a:t>, </a:t>
            </a:r>
            <a:r>
              <a:rPr lang="en-US" dirty="0" err="1"/>
              <a:t>statistici</a:t>
            </a:r>
            <a:r>
              <a:rPr lang="en-US" dirty="0"/>
              <a:t>, marketing), </a:t>
            </a:r>
            <a:r>
              <a:rPr lang="en-US" dirty="0" err="1"/>
              <a:t>în</a:t>
            </a:r>
            <a:r>
              <a:rPr lang="en-US" dirty="0"/>
              <a:t> </a:t>
            </a:r>
            <a:r>
              <a:rPr lang="en-US" dirty="0" err="1"/>
              <a:t>conformitate</a:t>
            </a:r>
            <a:r>
              <a:rPr lang="en-US" dirty="0"/>
              <a:t> cu </a:t>
            </a:r>
            <a:r>
              <a:rPr lang="en-US" dirty="0" err="1"/>
              <a:t>reglementările</a:t>
            </a:r>
            <a:r>
              <a:rPr lang="en-US" dirty="0"/>
              <a:t> </a:t>
            </a:r>
            <a:r>
              <a:rPr lang="en-US" dirty="0">
                <a:hlinkClick r:id="rId2"/>
              </a:rPr>
              <a:t>GDPR</a:t>
            </a:r>
            <a:r>
              <a:rPr lang="en-US" dirty="0"/>
              <a:t>. </a:t>
            </a:r>
            <a:r>
              <a:rPr lang="en-US" dirty="0" err="1"/>
              <a:t>Funcționarea</a:t>
            </a:r>
            <a:r>
              <a:rPr lang="en-US" dirty="0"/>
              <a:t> </a:t>
            </a:r>
            <a:r>
              <a:rPr lang="en-US" dirty="0" err="1"/>
              <a:t>sistemului</a:t>
            </a:r>
            <a:r>
              <a:rPr lang="en-US" dirty="0"/>
              <a:t> se </a:t>
            </a:r>
            <a:r>
              <a:rPr lang="en-US" dirty="0" err="1"/>
              <a:t>bazează</a:t>
            </a:r>
            <a:r>
              <a:rPr lang="en-US" dirty="0"/>
              <a:t> pe </a:t>
            </a:r>
            <a:r>
              <a:rPr lang="en-US" dirty="0" err="1"/>
              <a:t>interceptarea</a:t>
            </a:r>
            <a:r>
              <a:rPr lang="en-US" dirty="0"/>
              <a:t> </a:t>
            </a:r>
            <a:r>
              <a:rPr lang="en-US" dirty="0" err="1"/>
              <a:t>traficului</a:t>
            </a:r>
            <a:r>
              <a:rPr lang="en-US" dirty="0"/>
              <a:t> </a:t>
            </a:r>
            <a:r>
              <a:rPr lang="en-US" dirty="0" err="1"/>
              <a:t>printr</a:t>
            </a:r>
            <a:r>
              <a:rPr lang="en-US" dirty="0"/>
              <a:t>-un </a:t>
            </a:r>
            <a:r>
              <a:rPr lang="en-US" dirty="0" err="1"/>
              <a:t>mecanism</a:t>
            </a:r>
            <a:r>
              <a:rPr lang="en-US" dirty="0"/>
              <a:t> de tip MITM (*man-in-the-middle*), care </a:t>
            </a:r>
            <a:r>
              <a:rPr lang="en-US" dirty="0" err="1"/>
              <a:t>permite</a:t>
            </a:r>
            <a:r>
              <a:rPr lang="en-US" dirty="0"/>
              <a:t> </a:t>
            </a:r>
            <a:r>
              <a:rPr lang="en-US" dirty="0" err="1"/>
              <a:t>analiza</a:t>
            </a:r>
            <a:r>
              <a:rPr lang="en-US" dirty="0"/>
              <a:t> cookie-</a:t>
            </a:r>
            <a:r>
              <a:rPr lang="en-US" dirty="0" err="1"/>
              <a:t>urilor</a:t>
            </a:r>
            <a:r>
              <a:rPr lang="en-US" dirty="0"/>
              <a:t> </a:t>
            </a:r>
            <a:r>
              <a:rPr lang="en-US" dirty="0" err="1"/>
              <a:t>în</a:t>
            </a:r>
            <a:r>
              <a:rPr lang="en-US" dirty="0"/>
              <a:t> </a:t>
            </a:r>
            <a:r>
              <a:rPr lang="en-US" dirty="0" err="1"/>
              <a:t>timp</a:t>
            </a:r>
            <a:r>
              <a:rPr lang="en-US" dirty="0"/>
              <a:t> real. </a:t>
            </a:r>
            <a:r>
              <a:rPr lang="en-US" dirty="0" err="1"/>
              <a:t>În</a:t>
            </a:r>
            <a:r>
              <a:rPr lang="en-US" dirty="0"/>
              <a:t> plus, </a:t>
            </a:r>
            <a:r>
              <a:rPr lang="en-US" dirty="0" err="1"/>
              <a:t>aplicația</a:t>
            </a:r>
            <a:r>
              <a:rPr lang="en-US" dirty="0"/>
              <a:t> include </a:t>
            </a:r>
            <a:r>
              <a:rPr lang="en-US" dirty="0" err="1"/>
              <a:t>funcționalități</a:t>
            </a:r>
            <a:r>
              <a:rPr lang="en-US" dirty="0"/>
              <a:t> </a:t>
            </a:r>
            <a:r>
              <a:rPr lang="en-US" dirty="0" err="1"/>
              <a:t>suplimentare</a:t>
            </a:r>
            <a:r>
              <a:rPr lang="en-US" dirty="0"/>
              <a:t> de </a:t>
            </a:r>
            <a:r>
              <a:rPr lang="en-US" dirty="0" err="1"/>
              <a:t>blocare</a:t>
            </a:r>
            <a:r>
              <a:rPr lang="en-US" dirty="0"/>
              <a:t> a adware-</a:t>
            </a:r>
            <a:r>
              <a:rPr lang="en-US" dirty="0" err="1"/>
              <a:t>ului</a:t>
            </a:r>
            <a:r>
              <a:rPr lang="en-US" dirty="0"/>
              <a:t> </a:t>
            </a:r>
            <a:r>
              <a:rPr lang="en-US" dirty="0" err="1"/>
              <a:t>și</a:t>
            </a:r>
            <a:r>
              <a:rPr lang="en-US" dirty="0"/>
              <a:t> a malware-</a:t>
            </a:r>
            <a:r>
              <a:rPr lang="en-US" dirty="0" err="1"/>
              <a:t>ului</a:t>
            </a:r>
            <a:r>
              <a:rPr lang="en-US" dirty="0"/>
              <a:t>, </a:t>
            </a:r>
            <a:r>
              <a:rPr lang="en-US" dirty="0" err="1"/>
              <a:t>contribuind</a:t>
            </a:r>
            <a:r>
              <a:rPr lang="en-US" dirty="0"/>
              <a:t> </a:t>
            </a:r>
            <a:r>
              <a:rPr lang="en-US" dirty="0" err="1"/>
              <a:t>astfel</a:t>
            </a:r>
            <a:r>
              <a:rPr lang="en-US" dirty="0"/>
              <a:t> la </a:t>
            </a:r>
            <a:r>
              <a:rPr lang="en-US" dirty="0" err="1"/>
              <a:t>creșterea</a:t>
            </a:r>
            <a:r>
              <a:rPr lang="en-US" dirty="0"/>
              <a:t> </a:t>
            </a:r>
            <a:r>
              <a:rPr lang="en-US" dirty="0" err="1"/>
              <a:t>nivelului</a:t>
            </a:r>
            <a:r>
              <a:rPr lang="en-US" dirty="0"/>
              <a:t> general de </a:t>
            </a:r>
            <a:r>
              <a:rPr lang="en-US" dirty="0" err="1"/>
              <a:t>securitate</a:t>
            </a:r>
            <a:r>
              <a:rPr lang="en-US" dirty="0"/>
              <a:t>.</a:t>
            </a:r>
          </a:p>
        </p:txBody>
      </p:sp>
    </p:spTree>
    <p:extLst>
      <p:ext uri="{BB962C8B-B14F-4D97-AF65-F5344CB8AC3E}">
        <p14:creationId xmlns:p14="http://schemas.microsoft.com/office/powerpoint/2010/main" val="81491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050E5-E98E-B6EE-A933-F945693EB529}"/>
              </a:ext>
            </a:extLst>
          </p:cNvPr>
          <p:cNvSpPr>
            <a:spLocks noGrp="1"/>
          </p:cNvSpPr>
          <p:nvPr>
            <p:ph type="title"/>
          </p:nvPr>
        </p:nvSpPr>
        <p:spPr/>
        <p:txBody>
          <a:bodyPr/>
          <a:lstStyle/>
          <a:p>
            <a:r>
              <a:rPr lang="en-US" dirty="0" err="1"/>
              <a:t>Cercetari</a:t>
            </a:r>
            <a:r>
              <a:rPr lang="en-US" dirty="0"/>
              <a:t> </a:t>
            </a:r>
            <a:r>
              <a:rPr lang="en-US" dirty="0" err="1"/>
              <a:t>anterioare</a:t>
            </a:r>
            <a:endParaRPr lang="en-US" dirty="0"/>
          </a:p>
        </p:txBody>
      </p:sp>
      <p:sp>
        <p:nvSpPr>
          <p:cNvPr id="3" name="Content Placeholder 2">
            <a:extLst>
              <a:ext uri="{FF2B5EF4-FFF2-40B4-BE49-F238E27FC236}">
                <a16:creationId xmlns:a16="http://schemas.microsoft.com/office/drawing/2014/main" id="{CC5DFBBF-E01F-7FE7-44AF-E31D36682E5C}"/>
              </a:ext>
            </a:extLst>
          </p:cNvPr>
          <p:cNvSpPr>
            <a:spLocks noGrp="1"/>
          </p:cNvSpPr>
          <p:nvPr>
            <p:ph idx="1"/>
          </p:nvPr>
        </p:nvSpPr>
        <p:spPr/>
        <p:txBody>
          <a:bodyPr/>
          <a:lstStyle/>
          <a:p>
            <a:r>
              <a:rPr lang="en-US" dirty="0" err="1"/>
              <a:t>Exista</a:t>
            </a:r>
            <a:r>
              <a:rPr lang="en-US" dirty="0"/>
              <a:t> o </a:t>
            </a:r>
            <a:r>
              <a:rPr lang="en-US" dirty="0" err="1"/>
              <a:t>singura</a:t>
            </a:r>
            <a:r>
              <a:rPr lang="en-US" dirty="0"/>
              <a:t> </a:t>
            </a:r>
            <a:r>
              <a:rPr lang="en-US" dirty="0" err="1"/>
              <a:t>cercetare</a:t>
            </a:r>
            <a:r>
              <a:rPr lang="en-US" dirty="0"/>
              <a:t> </a:t>
            </a:r>
            <a:r>
              <a:rPr lang="en-US" dirty="0" err="1"/>
              <a:t>anterioara</a:t>
            </a:r>
            <a:r>
              <a:rPr lang="en-US" dirty="0"/>
              <a:t> </a:t>
            </a:r>
            <a:r>
              <a:rPr lang="en-US" dirty="0" err="1"/>
              <a:t>existenta</a:t>
            </a:r>
            <a:r>
              <a:rPr lang="en-US" dirty="0"/>
              <a:t> care </a:t>
            </a:r>
            <a:r>
              <a:rPr lang="en-US" dirty="0" err="1"/>
              <a:t>foloseste</a:t>
            </a:r>
            <a:r>
              <a:rPr lang="en-US" dirty="0"/>
              <a:t> un approach de a </a:t>
            </a:r>
            <a:r>
              <a:rPr lang="en-US" dirty="0" err="1"/>
              <a:t>clasifica</a:t>
            </a:r>
            <a:r>
              <a:rPr lang="en-US" dirty="0"/>
              <a:t> cookie-</a:t>
            </a:r>
            <a:r>
              <a:rPr lang="en-US" dirty="0" err="1"/>
              <a:t>uri</a:t>
            </a:r>
            <a:r>
              <a:rPr lang="en-US" dirty="0"/>
              <a:t> </a:t>
            </a:r>
            <a:r>
              <a:rPr lang="en-US" dirty="0" err="1"/>
              <a:t>printr</a:t>
            </a:r>
            <a:r>
              <a:rPr lang="en-US" dirty="0"/>
              <a:t>-un </a:t>
            </a:r>
            <a:r>
              <a:rPr lang="en-US" dirty="0" err="1"/>
              <a:t>algoritm</a:t>
            </a:r>
            <a:r>
              <a:rPr lang="en-US" dirty="0"/>
              <a:t> de machine learning </a:t>
            </a:r>
            <a:r>
              <a:rPr lang="en-US" dirty="0" err="1"/>
              <a:t>efectuata</a:t>
            </a:r>
            <a:r>
              <a:rPr lang="en-US" dirty="0"/>
              <a:t> de Dino Bollinger in </a:t>
            </a:r>
            <a:r>
              <a:rPr lang="en-US" dirty="0" err="1"/>
              <a:t>teza</a:t>
            </a:r>
            <a:r>
              <a:rPr lang="en-US" dirty="0"/>
              <a:t> </a:t>
            </a:r>
            <a:r>
              <a:rPr lang="en-US" dirty="0" err="1"/>
              <a:t>lui</a:t>
            </a:r>
            <a:r>
              <a:rPr lang="en-US" dirty="0"/>
              <a:t> de master (</a:t>
            </a:r>
            <a:r>
              <a:rPr lang="en-US" dirty="0">
                <a:hlinkClick r:id="rId2"/>
              </a:rPr>
              <a:t>link</a:t>
            </a:r>
            <a:r>
              <a:rPr lang="en-US" dirty="0"/>
              <a:t>) </a:t>
            </a:r>
            <a:r>
              <a:rPr lang="en-US" dirty="0" err="1"/>
              <a:t>unde</a:t>
            </a:r>
            <a:r>
              <a:rPr lang="en-US" dirty="0"/>
              <a:t> a </a:t>
            </a:r>
            <a:r>
              <a:rPr lang="en-US" dirty="0" err="1"/>
              <a:t>atins</a:t>
            </a:r>
            <a:r>
              <a:rPr lang="en-US" dirty="0"/>
              <a:t> o </a:t>
            </a:r>
            <a:r>
              <a:rPr lang="en-US" dirty="0" err="1"/>
              <a:t>acuratete</a:t>
            </a:r>
            <a:r>
              <a:rPr lang="en-US" dirty="0"/>
              <a:t> </a:t>
            </a:r>
            <a:r>
              <a:rPr lang="en-US" dirty="0" err="1"/>
              <a:t>medie</a:t>
            </a:r>
            <a:r>
              <a:rPr lang="en-US" dirty="0"/>
              <a:t> de 87.21% care era </a:t>
            </a:r>
            <a:r>
              <a:rPr lang="en-US" dirty="0" err="1"/>
              <a:t>cea</a:t>
            </a:r>
            <a:r>
              <a:rPr lang="en-US" dirty="0"/>
              <a:t> </a:t>
            </a:r>
            <a:r>
              <a:rPr lang="en-US" dirty="0" err="1"/>
              <a:t>mai</a:t>
            </a:r>
            <a:r>
              <a:rPr lang="en-US" dirty="0"/>
              <a:t> buna </a:t>
            </a:r>
            <a:r>
              <a:rPr lang="en-US" dirty="0" err="1"/>
              <a:t>existenta</a:t>
            </a:r>
            <a:r>
              <a:rPr lang="en-US" dirty="0"/>
              <a:t>, </a:t>
            </a:r>
            <a:r>
              <a:rPr lang="en-US" dirty="0" err="1"/>
              <a:t>pana</a:t>
            </a:r>
            <a:r>
              <a:rPr lang="en-US" dirty="0"/>
              <a:t> la </a:t>
            </a:r>
            <a:r>
              <a:rPr lang="en-US" dirty="0" err="1"/>
              <a:t>modelul</a:t>
            </a:r>
            <a:r>
              <a:rPr lang="en-US" dirty="0"/>
              <a:t> current </a:t>
            </a:r>
            <a:r>
              <a:rPr lang="en-US" dirty="0" err="1"/>
              <a:t>implementat</a:t>
            </a:r>
            <a:r>
              <a:rPr lang="en-US" dirty="0"/>
              <a:t> de </a:t>
            </a:r>
            <a:r>
              <a:rPr lang="en-US" dirty="0" err="1"/>
              <a:t>noi</a:t>
            </a:r>
            <a:r>
              <a:rPr lang="en-US" dirty="0"/>
              <a:t> care </a:t>
            </a:r>
            <a:r>
              <a:rPr lang="en-US" dirty="0" err="1"/>
              <a:t>atinge</a:t>
            </a:r>
            <a:r>
              <a:rPr lang="en-US" dirty="0"/>
              <a:t> o </a:t>
            </a:r>
            <a:r>
              <a:rPr lang="en-US" dirty="0" err="1"/>
              <a:t>acuratete</a:t>
            </a:r>
            <a:r>
              <a:rPr lang="en-US" dirty="0"/>
              <a:t> </a:t>
            </a:r>
            <a:r>
              <a:rPr lang="en-US" dirty="0" err="1"/>
              <a:t>medie</a:t>
            </a:r>
            <a:r>
              <a:rPr lang="en-US" dirty="0"/>
              <a:t> de 99.12%, o </a:t>
            </a:r>
            <a:r>
              <a:rPr lang="en-US" dirty="0" err="1"/>
              <a:t>imbunatatire</a:t>
            </a:r>
            <a:r>
              <a:rPr lang="en-US" dirty="0"/>
              <a:t> de 11.91%, </a:t>
            </a:r>
            <a:r>
              <a:rPr lang="en-US" dirty="0" err="1"/>
              <a:t>ceea</a:t>
            </a:r>
            <a:r>
              <a:rPr lang="en-US" dirty="0"/>
              <a:t> </a:t>
            </a:r>
            <a:r>
              <a:rPr lang="en-US" dirty="0" err="1"/>
              <a:t>ce</a:t>
            </a:r>
            <a:r>
              <a:rPr lang="en-US" dirty="0"/>
              <a:t> </a:t>
            </a:r>
            <a:r>
              <a:rPr lang="en-US" dirty="0" err="1"/>
              <a:t>inseamna</a:t>
            </a:r>
            <a:r>
              <a:rPr lang="en-US" dirty="0"/>
              <a:t> ca </a:t>
            </a:r>
            <a:r>
              <a:rPr lang="en-US" dirty="0" err="1"/>
              <a:t>aceasta</a:t>
            </a:r>
            <a:r>
              <a:rPr lang="en-US" dirty="0"/>
              <a:t> </a:t>
            </a:r>
            <a:r>
              <a:rPr lang="en-US" dirty="0" err="1"/>
              <a:t>abordare</a:t>
            </a:r>
            <a:r>
              <a:rPr lang="en-US" dirty="0"/>
              <a:t> </a:t>
            </a:r>
            <a:r>
              <a:rPr lang="en-US" dirty="0" err="1"/>
              <a:t>este</a:t>
            </a:r>
            <a:r>
              <a:rPr lang="en-US" dirty="0"/>
              <a:t> state of the art actual. </a:t>
            </a:r>
          </a:p>
          <a:p>
            <a:r>
              <a:rPr lang="en-US" dirty="0"/>
              <a:t>O </a:t>
            </a:r>
            <a:r>
              <a:rPr lang="en-US" dirty="0" err="1"/>
              <a:t>alta</a:t>
            </a:r>
            <a:r>
              <a:rPr lang="en-US" dirty="0"/>
              <a:t> </a:t>
            </a:r>
            <a:r>
              <a:rPr lang="en-US" dirty="0" err="1"/>
              <a:t>abordare</a:t>
            </a:r>
            <a:r>
              <a:rPr lang="en-US" dirty="0"/>
              <a:t> de a </a:t>
            </a:r>
            <a:r>
              <a:rPr lang="en-US" dirty="0" err="1"/>
              <a:t>clasifica</a:t>
            </a:r>
            <a:r>
              <a:rPr lang="en-US" dirty="0"/>
              <a:t> cookie </a:t>
            </a:r>
            <a:r>
              <a:rPr lang="en-US" dirty="0" err="1"/>
              <a:t>existenta</a:t>
            </a:r>
            <a:r>
              <a:rPr lang="en-US" dirty="0"/>
              <a:t> </a:t>
            </a:r>
            <a:r>
              <a:rPr lang="en-US" dirty="0" err="1"/>
              <a:t>este</a:t>
            </a:r>
            <a:r>
              <a:rPr lang="en-US" dirty="0"/>
              <a:t> Cookiepedia, o </a:t>
            </a:r>
            <a:r>
              <a:rPr lang="en-US" dirty="0" err="1"/>
              <a:t>baza</a:t>
            </a:r>
            <a:r>
              <a:rPr lang="en-US" dirty="0"/>
              <a:t> de date cu cookie-</a:t>
            </a:r>
            <a:r>
              <a:rPr lang="en-US" dirty="0" err="1"/>
              <a:t>uri</a:t>
            </a:r>
            <a:r>
              <a:rPr lang="en-US" dirty="0"/>
              <a:t> </a:t>
            </a:r>
            <a:r>
              <a:rPr lang="en-US" dirty="0" err="1"/>
              <a:t>clasificate</a:t>
            </a:r>
            <a:r>
              <a:rPr lang="en-US" dirty="0"/>
              <a:t> de </a:t>
            </a:r>
            <a:r>
              <a:rPr lang="en-US" dirty="0" err="1"/>
              <a:t>oameni</a:t>
            </a:r>
            <a:r>
              <a:rPr lang="en-US" dirty="0"/>
              <a:t> care are o </a:t>
            </a:r>
            <a:r>
              <a:rPr lang="en-US" dirty="0" err="1"/>
              <a:t>acuratete</a:t>
            </a:r>
            <a:r>
              <a:rPr lang="en-US" dirty="0"/>
              <a:t> </a:t>
            </a:r>
            <a:r>
              <a:rPr lang="en-US" dirty="0" err="1"/>
              <a:t>medie</a:t>
            </a:r>
            <a:r>
              <a:rPr lang="en-US" dirty="0"/>
              <a:t> de 77.82% (</a:t>
            </a:r>
            <a:r>
              <a:rPr lang="en-US" dirty="0" err="1"/>
              <a:t>specificat</a:t>
            </a:r>
            <a:r>
              <a:rPr lang="en-US" dirty="0"/>
              <a:t> in </a:t>
            </a:r>
            <a:r>
              <a:rPr lang="en-US" dirty="0" err="1"/>
              <a:t>teza</a:t>
            </a:r>
            <a:r>
              <a:rPr lang="en-US" dirty="0"/>
              <a:t> de master al </a:t>
            </a:r>
            <a:r>
              <a:rPr lang="en-US" dirty="0" err="1"/>
              <a:t>lui</a:t>
            </a:r>
            <a:r>
              <a:rPr lang="en-US" dirty="0"/>
              <a:t> Dino Bollinger)</a:t>
            </a:r>
          </a:p>
          <a:p>
            <a:r>
              <a:rPr lang="en-US" dirty="0"/>
              <a:t>Alte </a:t>
            </a:r>
            <a:r>
              <a:rPr lang="en-US" dirty="0" err="1"/>
              <a:t>abordari</a:t>
            </a:r>
            <a:r>
              <a:rPr lang="en-US" dirty="0"/>
              <a:t> </a:t>
            </a:r>
            <a:r>
              <a:rPr lang="en-US" dirty="0" err="1"/>
              <a:t>inc</a:t>
            </a:r>
            <a:r>
              <a:rPr lang="ro-RO" dirty="0"/>
              <a:t>l</a:t>
            </a:r>
            <a:r>
              <a:rPr lang="en-US" dirty="0" err="1"/>
              <a:t>ud</a:t>
            </a:r>
            <a:r>
              <a:rPr lang="en-US" dirty="0"/>
              <a:t> CMP-</a:t>
            </a:r>
            <a:r>
              <a:rPr lang="en-US" dirty="0" err="1"/>
              <a:t>uri</a:t>
            </a:r>
            <a:r>
              <a:rPr lang="en-US" dirty="0"/>
              <a:t> (Consent Management Platforms) care </a:t>
            </a:r>
            <a:r>
              <a:rPr lang="en-US" dirty="0" err="1"/>
              <a:t>ofer</a:t>
            </a:r>
            <a:r>
              <a:rPr lang="en-US" dirty="0"/>
              <a:t> </a:t>
            </a:r>
            <a:r>
              <a:rPr lang="en-US" dirty="0" err="1"/>
              <a:t>informatii</a:t>
            </a:r>
            <a:r>
              <a:rPr lang="en-US" dirty="0"/>
              <a:t> </a:t>
            </a:r>
            <a:r>
              <a:rPr lang="en-US" dirty="0" err="1"/>
              <a:t>despre</a:t>
            </a:r>
            <a:r>
              <a:rPr lang="en-US" dirty="0"/>
              <a:t> cookie-</a:t>
            </a:r>
            <a:r>
              <a:rPr lang="en-US" dirty="0" err="1"/>
              <a:t>uri</a:t>
            </a:r>
            <a:r>
              <a:rPr lang="en-US" dirty="0"/>
              <a:t> </a:t>
            </a:r>
            <a:r>
              <a:rPr lang="en-US" dirty="0" err="1"/>
              <a:t>implementate</a:t>
            </a:r>
            <a:r>
              <a:rPr lang="en-US" dirty="0"/>
              <a:t> de </a:t>
            </a:r>
            <a:r>
              <a:rPr lang="en-US" dirty="0" err="1"/>
              <a:t>ei</a:t>
            </a:r>
            <a:r>
              <a:rPr lang="en-US" dirty="0"/>
              <a:t> </a:t>
            </a:r>
            <a:r>
              <a:rPr lang="en-US" dirty="0" err="1"/>
              <a:t>sau</a:t>
            </a:r>
            <a:r>
              <a:rPr lang="en-US" dirty="0"/>
              <a:t> in </a:t>
            </a:r>
            <a:r>
              <a:rPr lang="en-US" dirty="0" err="1"/>
              <a:t>baza</a:t>
            </a:r>
            <a:r>
              <a:rPr lang="en-US" dirty="0"/>
              <a:t> lor de date</a:t>
            </a:r>
          </a:p>
        </p:txBody>
      </p:sp>
    </p:spTree>
    <p:extLst>
      <p:ext uri="{BB962C8B-B14F-4D97-AF65-F5344CB8AC3E}">
        <p14:creationId xmlns:p14="http://schemas.microsoft.com/office/powerpoint/2010/main" val="3415627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3877A-1843-D446-E843-C8A4B7A5775C}"/>
              </a:ext>
            </a:extLst>
          </p:cNvPr>
          <p:cNvSpPr>
            <a:spLocks noGrp="1"/>
          </p:cNvSpPr>
          <p:nvPr>
            <p:ph type="title"/>
          </p:nvPr>
        </p:nvSpPr>
        <p:spPr/>
        <p:txBody>
          <a:bodyPr>
            <a:normAutofit fontScale="90000"/>
          </a:bodyPr>
          <a:lstStyle/>
          <a:p>
            <a:r>
              <a:rPr lang="en-US" dirty="0"/>
              <a:t>De </a:t>
            </a:r>
            <a:r>
              <a:rPr lang="en-US" dirty="0" err="1"/>
              <a:t>ce</a:t>
            </a:r>
            <a:r>
              <a:rPr lang="en-US" dirty="0"/>
              <a:t> Machine Learning </a:t>
            </a:r>
            <a:r>
              <a:rPr lang="en-US" dirty="0" err="1"/>
              <a:t>pentru</a:t>
            </a:r>
            <a:r>
              <a:rPr lang="en-US" dirty="0"/>
              <a:t> a </a:t>
            </a:r>
            <a:r>
              <a:rPr lang="en-US" dirty="0" err="1"/>
              <a:t>clasifica</a:t>
            </a:r>
            <a:r>
              <a:rPr lang="en-US" dirty="0"/>
              <a:t> cookie-</a:t>
            </a:r>
            <a:r>
              <a:rPr lang="en-US" dirty="0" err="1"/>
              <a:t>uri</a:t>
            </a:r>
            <a:r>
              <a:rPr lang="en-US" dirty="0"/>
              <a:t> ?</a:t>
            </a:r>
            <a:br>
              <a:rPr lang="en-US" dirty="0"/>
            </a:br>
            <a:endParaRPr lang="en-US" dirty="0"/>
          </a:p>
        </p:txBody>
      </p:sp>
      <p:sp>
        <p:nvSpPr>
          <p:cNvPr id="3" name="Content Placeholder 2">
            <a:extLst>
              <a:ext uri="{FF2B5EF4-FFF2-40B4-BE49-F238E27FC236}">
                <a16:creationId xmlns:a16="http://schemas.microsoft.com/office/drawing/2014/main" id="{DCC84CFD-AB83-9EE7-6469-37D9D2CBEC4D}"/>
              </a:ext>
            </a:extLst>
          </p:cNvPr>
          <p:cNvSpPr>
            <a:spLocks noGrp="1"/>
          </p:cNvSpPr>
          <p:nvPr>
            <p:ph idx="1"/>
          </p:nvPr>
        </p:nvSpPr>
        <p:spPr>
          <a:xfrm>
            <a:off x="377072" y="1725105"/>
            <a:ext cx="8896930" cy="5062194"/>
          </a:xfrm>
        </p:spPr>
        <p:txBody>
          <a:bodyPr>
            <a:normAutofit lnSpcReduction="10000"/>
          </a:bodyPr>
          <a:lstStyle/>
          <a:p>
            <a:r>
              <a:rPr lang="en-US" dirty="0" err="1"/>
              <a:t>Spre</a:t>
            </a:r>
            <a:r>
              <a:rPr lang="en-US" dirty="0"/>
              <a:t> </a:t>
            </a:r>
            <a:r>
              <a:rPr lang="en-US" dirty="0" err="1"/>
              <a:t>deosebire</a:t>
            </a:r>
            <a:r>
              <a:rPr lang="en-US" dirty="0"/>
              <a:t> de </a:t>
            </a:r>
            <a:r>
              <a:rPr lang="en-US" dirty="0" err="1"/>
              <a:t>blocarea</a:t>
            </a:r>
            <a:r>
              <a:rPr lang="en-US" dirty="0"/>
              <a:t> </a:t>
            </a:r>
            <a:r>
              <a:rPr lang="en-US" dirty="0" err="1"/>
              <a:t>reclamelor</a:t>
            </a:r>
            <a:r>
              <a:rPr lang="en-US" dirty="0"/>
              <a:t>, </a:t>
            </a:r>
            <a:r>
              <a:rPr lang="en-US" dirty="0" err="1"/>
              <a:t>realizabilă</a:t>
            </a:r>
            <a:r>
              <a:rPr lang="en-US" dirty="0"/>
              <a:t> la </a:t>
            </a:r>
            <a:r>
              <a:rPr lang="en-US" dirty="0" err="1"/>
              <a:t>nivel</a:t>
            </a:r>
            <a:r>
              <a:rPr lang="en-US" dirty="0"/>
              <a:t> DNS </a:t>
            </a:r>
            <a:r>
              <a:rPr lang="en-US" dirty="0" err="1"/>
              <a:t>prin</a:t>
            </a:r>
            <a:r>
              <a:rPr lang="en-US" dirty="0"/>
              <a:t> </a:t>
            </a:r>
            <a:r>
              <a:rPr lang="en-US" dirty="0" err="1"/>
              <a:t>liste</a:t>
            </a:r>
            <a:r>
              <a:rPr lang="en-US" dirty="0"/>
              <a:t> de </a:t>
            </a:r>
            <a:r>
              <a:rPr lang="en-US" dirty="0" err="1"/>
              <a:t>domenii</a:t>
            </a:r>
            <a:r>
              <a:rPr lang="en-US" dirty="0"/>
              <a:t> </a:t>
            </a:r>
            <a:r>
              <a:rPr lang="en-US" dirty="0" err="1"/>
              <a:t>restricționate</a:t>
            </a:r>
            <a:r>
              <a:rPr lang="en-US" dirty="0"/>
              <a:t>, </a:t>
            </a:r>
            <a:r>
              <a:rPr lang="en-US" dirty="0" err="1"/>
              <a:t>gestionarea</a:t>
            </a:r>
            <a:r>
              <a:rPr lang="en-US" dirty="0"/>
              <a:t> cookie-</a:t>
            </a:r>
            <a:r>
              <a:rPr lang="en-US" dirty="0" err="1"/>
              <a:t>urilor</a:t>
            </a:r>
            <a:r>
              <a:rPr lang="en-US" dirty="0"/>
              <a:t> </a:t>
            </a:r>
            <a:r>
              <a:rPr lang="en-US" dirty="0" err="1"/>
              <a:t>este</a:t>
            </a:r>
            <a:r>
              <a:rPr lang="en-US" dirty="0"/>
              <a:t> </a:t>
            </a:r>
            <a:r>
              <a:rPr lang="en-US" dirty="0" err="1"/>
              <a:t>considerabil</a:t>
            </a:r>
            <a:r>
              <a:rPr lang="en-US" dirty="0"/>
              <a:t> </a:t>
            </a:r>
            <a:r>
              <a:rPr lang="en-US" dirty="0" err="1"/>
              <a:t>mai</a:t>
            </a:r>
            <a:r>
              <a:rPr lang="en-US" dirty="0"/>
              <a:t> </a:t>
            </a:r>
            <a:r>
              <a:rPr lang="en-US" dirty="0" err="1"/>
              <a:t>complexă</a:t>
            </a:r>
            <a:r>
              <a:rPr lang="en-US" dirty="0"/>
              <a:t>. </a:t>
            </a:r>
            <a:r>
              <a:rPr lang="en-US" dirty="0" err="1"/>
              <a:t>Denumirile</a:t>
            </a:r>
            <a:r>
              <a:rPr lang="en-US" dirty="0"/>
              <a:t> </a:t>
            </a:r>
            <a:r>
              <a:rPr lang="en-US" dirty="0" err="1"/>
              <a:t>acestora</a:t>
            </a:r>
            <a:r>
              <a:rPr lang="en-US" dirty="0"/>
              <a:t> nu </a:t>
            </a:r>
            <a:r>
              <a:rPr lang="en-US" dirty="0" err="1"/>
              <a:t>urmează</a:t>
            </a:r>
            <a:r>
              <a:rPr lang="en-US" dirty="0"/>
              <a:t> un standard </a:t>
            </a:r>
            <a:r>
              <a:rPr lang="en-US" dirty="0" err="1"/>
              <a:t>unitar</a:t>
            </a:r>
            <a:r>
              <a:rPr lang="en-US" dirty="0"/>
              <a:t> </a:t>
            </a:r>
            <a:r>
              <a:rPr lang="en-US" dirty="0" err="1"/>
              <a:t>și</a:t>
            </a:r>
            <a:r>
              <a:rPr lang="en-US" dirty="0"/>
              <a:t> sunt </a:t>
            </a:r>
            <a:r>
              <a:rPr lang="en-US" dirty="0" err="1"/>
              <a:t>frecvent</a:t>
            </a:r>
            <a:r>
              <a:rPr lang="en-US" dirty="0"/>
              <a:t> </a:t>
            </a:r>
            <a:r>
              <a:rPr lang="en-US" dirty="0" err="1"/>
              <a:t>ambigue</a:t>
            </a:r>
            <a:r>
              <a:rPr lang="en-US" dirty="0"/>
              <a:t>, </a:t>
            </a:r>
            <a:r>
              <a:rPr lang="en-US" dirty="0" err="1"/>
              <a:t>iar</a:t>
            </a:r>
            <a:r>
              <a:rPr lang="en-US" dirty="0"/>
              <a:t>, </a:t>
            </a:r>
            <a:r>
              <a:rPr lang="en-US" dirty="0" err="1"/>
              <a:t>în</a:t>
            </a:r>
            <a:r>
              <a:rPr lang="en-US" dirty="0"/>
              <a:t> </a:t>
            </a:r>
            <a:r>
              <a:rPr lang="en-US" dirty="0" err="1"/>
              <a:t>ciuda</a:t>
            </a:r>
            <a:r>
              <a:rPr lang="en-US" dirty="0"/>
              <a:t> </a:t>
            </a:r>
            <a:r>
              <a:rPr lang="en-US" dirty="0" err="1"/>
              <a:t>reglementărilor</a:t>
            </a:r>
            <a:r>
              <a:rPr lang="en-US" dirty="0"/>
              <a:t> GDPR, </a:t>
            </a:r>
            <a:r>
              <a:rPr lang="en-US" dirty="0" err="1"/>
              <a:t>unele</a:t>
            </a:r>
            <a:r>
              <a:rPr lang="en-US" dirty="0"/>
              <a:t> site-</a:t>
            </a:r>
            <a:r>
              <a:rPr lang="en-US" dirty="0" err="1"/>
              <a:t>uri</a:t>
            </a:r>
            <a:r>
              <a:rPr lang="en-US" dirty="0"/>
              <a:t> nu </a:t>
            </a:r>
            <a:r>
              <a:rPr lang="en-US" dirty="0" err="1"/>
              <a:t>afișează</a:t>
            </a:r>
            <a:r>
              <a:rPr lang="en-US" dirty="0"/>
              <a:t> </a:t>
            </a:r>
            <a:r>
              <a:rPr lang="en-US" dirty="0" err="1"/>
              <a:t>complet</a:t>
            </a:r>
            <a:r>
              <a:rPr lang="en-US" dirty="0"/>
              <a:t> cookie-urile </a:t>
            </a:r>
            <a:r>
              <a:rPr lang="en-US" dirty="0" err="1"/>
              <a:t>utilizate</a:t>
            </a:r>
            <a:r>
              <a:rPr lang="en-US" dirty="0"/>
              <a:t> </a:t>
            </a:r>
            <a:r>
              <a:rPr lang="en-US" dirty="0" err="1"/>
              <a:t>sau</a:t>
            </a:r>
            <a:r>
              <a:rPr lang="en-US" dirty="0"/>
              <a:t> nu </a:t>
            </a:r>
            <a:r>
              <a:rPr lang="en-US" dirty="0" err="1"/>
              <a:t>își</a:t>
            </a:r>
            <a:r>
              <a:rPr lang="en-US" dirty="0"/>
              <a:t> </a:t>
            </a:r>
            <a:r>
              <a:rPr lang="en-US" dirty="0" err="1"/>
              <a:t>actualizează</a:t>
            </a:r>
            <a:r>
              <a:rPr lang="en-US" dirty="0"/>
              <a:t> </a:t>
            </a:r>
            <a:r>
              <a:rPr lang="en-US" dirty="0" err="1"/>
              <a:t>informațiile</a:t>
            </a:r>
            <a:r>
              <a:rPr lang="en-US" dirty="0"/>
              <a:t>. </a:t>
            </a:r>
            <a:r>
              <a:rPr lang="en-US" dirty="0" err="1"/>
              <a:t>În</a:t>
            </a:r>
            <a:r>
              <a:rPr lang="en-US" dirty="0"/>
              <a:t> </a:t>
            </a:r>
            <a:r>
              <a:rPr lang="en-US" dirty="0" err="1"/>
              <a:t>absența</a:t>
            </a:r>
            <a:r>
              <a:rPr lang="en-US" dirty="0"/>
              <a:t> </a:t>
            </a:r>
            <a:r>
              <a:rPr lang="en-US" dirty="0" err="1"/>
              <a:t>unui</a:t>
            </a:r>
            <a:r>
              <a:rPr lang="en-US" dirty="0"/>
              <a:t> </a:t>
            </a:r>
            <a:r>
              <a:rPr lang="en-US" dirty="0" err="1"/>
              <a:t>tipar</a:t>
            </a:r>
            <a:r>
              <a:rPr lang="en-US" dirty="0"/>
              <a:t> universal, </a:t>
            </a:r>
            <a:r>
              <a:rPr lang="en-US" dirty="0" err="1"/>
              <a:t>blocarea</a:t>
            </a:r>
            <a:r>
              <a:rPr lang="en-US" dirty="0"/>
              <a:t> </a:t>
            </a:r>
            <a:r>
              <a:rPr lang="en-US" dirty="0" err="1"/>
              <a:t>eficientă</a:t>
            </a:r>
            <a:r>
              <a:rPr lang="en-US" dirty="0"/>
              <a:t> nu </a:t>
            </a:r>
            <a:r>
              <a:rPr lang="en-US" dirty="0" err="1"/>
              <a:t>poate</a:t>
            </a:r>
            <a:r>
              <a:rPr lang="en-US" dirty="0"/>
              <a:t> fi </a:t>
            </a:r>
            <a:r>
              <a:rPr lang="en-US" dirty="0" err="1"/>
              <a:t>realizată</a:t>
            </a:r>
            <a:r>
              <a:rPr lang="en-US" dirty="0"/>
              <a:t> </a:t>
            </a:r>
            <a:r>
              <a:rPr lang="en-US" dirty="0" err="1"/>
              <a:t>prin</a:t>
            </a:r>
            <a:r>
              <a:rPr lang="en-US" dirty="0"/>
              <a:t> </a:t>
            </a:r>
            <a:r>
              <a:rPr lang="en-US" dirty="0" err="1"/>
              <a:t>metode</a:t>
            </a:r>
            <a:r>
              <a:rPr lang="en-US" dirty="0"/>
              <a:t> </a:t>
            </a:r>
            <a:r>
              <a:rPr lang="en-US" dirty="0" err="1"/>
              <a:t>tradiționale</a:t>
            </a:r>
            <a:r>
              <a:rPr lang="en-US" dirty="0"/>
              <a:t>, </a:t>
            </a:r>
            <a:r>
              <a:rPr lang="en-US" dirty="0" err="1"/>
              <a:t>fiind</a:t>
            </a:r>
            <a:r>
              <a:rPr lang="en-US" dirty="0"/>
              <a:t> </a:t>
            </a:r>
            <a:r>
              <a:rPr lang="en-US" dirty="0" err="1"/>
              <a:t>necesare</a:t>
            </a:r>
            <a:r>
              <a:rPr lang="en-US" dirty="0"/>
              <a:t> </a:t>
            </a:r>
            <a:r>
              <a:rPr lang="en-US" dirty="0" err="1"/>
              <a:t>tehnici</a:t>
            </a:r>
            <a:r>
              <a:rPr lang="en-US" dirty="0"/>
              <a:t> de machine learning.</a:t>
            </a:r>
          </a:p>
          <a:p>
            <a:r>
              <a:rPr lang="en-US" dirty="0" err="1"/>
              <a:t>Blocarea</a:t>
            </a:r>
            <a:r>
              <a:rPr lang="en-US" dirty="0"/>
              <a:t> cookie-</a:t>
            </a:r>
            <a:r>
              <a:rPr lang="en-US" dirty="0" err="1"/>
              <a:t>urilor</a:t>
            </a:r>
            <a:r>
              <a:rPr lang="en-US" dirty="0"/>
              <a:t> third-party nu </a:t>
            </a:r>
            <a:r>
              <a:rPr lang="en-US" dirty="0" err="1"/>
              <a:t>reprezintă</a:t>
            </a:r>
            <a:r>
              <a:rPr lang="en-US" dirty="0"/>
              <a:t> </a:t>
            </a:r>
            <a:r>
              <a:rPr lang="en-US" dirty="0" err="1"/>
              <a:t>întotdeauna</a:t>
            </a:r>
            <a:r>
              <a:rPr lang="en-US" dirty="0"/>
              <a:t> o </a:t>
            </a:r>
            <a:r>
              <a:rPr lang="en-US" dirty="0" err="1"/>
              <a:t>soluție</a:t>
            </a:r>
            <a:r>
              <a:rPr lang="en-US" dirty="0"/>
              <a:t> </a:t>
            </a:r>
            <a:r>
              <a:rPr lang="en-US" dirty="0" err="1"/>
              <a:t>adecvată</a:t>
            </a:r>
            <a:r>
              <a:rPr lang="en-US" dirty="0"/>
              <a:t>, </a:t>
            </a:r>
            <a:r>
              <a:rPr lang="en-US" dirty="0" err="1"/>
              <a:t>deoarece</a:t>
            </a:r>
            <a:r>
              <a:rPr lang="en-US" dirty="0"/>
              <a:t> </a:t>
            </a:r>
            <a:r>
              <a:rPr lang="en-US" dirty="0" err="1"/>
              <a:t>unele</a:t>
            </a:r>
            <a:r>
              <a:rPr lang="en-US" dirty="0"/>
              <a:t> </a:t>
            </a:r>
            <a:r>
              <a:rPr lang="en-US" dirty="0" err="1"/>
              <a:t>dintre</a:t>
            </a:r>
            <a:r>
              <a:rPr lang="en-US" dirty="0"/>
              <a:t> </a:t>
            </a:r>
            <a:r>
              <a:rPr lang="en-US" dirty="0" err="1"/>
              <a:t>acestea</a:t>
            </a:r>
            <a:r>
              <a:rPr lang="en-US" dirty="0"/>
              <a:t> sunt </a:t>
            </a:r>
            <a:r>
              <a:rPr lang="en-US" dirty="0" err="1"/>
              <a:t>esențiale</a:t>
            </a:r>
            <a:r>
              <a:rPr lang="en-US" dirty="0"/>
              <a:t> </a:t>
            </a:r>
            <a:r>
              <a:rPr lang="en-US" dirty="0" err="1"/>
              <a:t>pentru</a:t>
            </a:r>
            <a:r>
              <a:rPr lang="en-US" dirty="0"/>
              <a:t> </a:t>
            </a:r>
            <a:r>
              <a:rPr lang="en-US" dirty="0" err="1"/>
              <a:t>funcționarea</a:t>
            </a:r>
            <a:r>
              <a:rPr lang="en-US" dirty="0"/>
              <a:t> site-</a:t>
            </a:r>
            <a:r>
              <a:rPr lang="en-US" dirty="0" err="1"/>
              <a:t>urilor</a:t>
            </a:r>
            <a:r>
              <a:rPr lang="en-US" dirty="0"/>
              <a:t> (de </a:t>
            </a:r>
            <a:r>
              <a:rPr lang="en-US" dirty="0" err="1"/>
              <a:t>exemplu</a:t>
            </a:r>
            <a:r>
              <a:rPr lang="en-US" dirty="0"/>
              <a:t>, </a:t>
            </a:r>
            <a:r>
              <a:rPr lang="en-US" dirty="0" err="1"/>
              <a:t>mecanisme</a:t>
            </a:r>
            <a:r>
              <a:rPr lang="en-US" dirty="0"/>
              <a:t> de </a:t>
            </a:r>
            <a:r>
              <a:rPr lang="en-US" dirty="0" err="1"/>
              <a:t>verificare</a:t>
            </a:r>
            <a:r>
              <a:rPr lang="en-US" dirty="0"/>
              <a:t> a </a:t>
            </a:r>
            <a:r>
              <a:rPr lang="en-US" dirty="0" err="1"/>
              <a:t>autenticității</a:t>
            </a:r>
            <a:r>
              <a:rPr lang="en-US" dirty="0"/>
              <a:t> </a:t>
            </a:r>
            <a:r>
              <a:rPr lang="en-US" dirty="0" err="1"/>
              <a:t>furnizate</a:t>
            </a:r>
            <a:r>
              <a:rPr lang="en-US" dirty="0"/>
              <a:t> de </a:t>
            </a:r>
            <a:r>
              <a:rPr lang="en-US" dirty="0" err="1"/>
              <a:t>servicii</a:t>
            </a:r>
            <a:r>
              <a:rPr lang="en-US" dirty="0"/>
              <a:t> precum Cloudflare).</a:t>
            </a:r>
          </a:p>
          <a:p>
            <a:r>
              <a:rPr lang="en-US" dirty="0" err="1"/>
              <a:t>Extensiile</a:t>
            </a:r>
            <a:r>
              <a:rPr lang="en-US" dirty="0"/>
              <a:t> de browser care </a:t>
            </a:r>
            <a:r>
              <a:rPr lang="en-US" dirty="0" err="1"/>
              <a:t>gestionează</a:t>
            </a:r>
            <a:r>
              <a:rPr lang="en-US" dirty="0"/>
              <a:t> automat </a:t>
            </a:r>
            <a:r>
              <a:rPr lang="en-US" dirty="0" err="1"/>
              <a:t>bannerele</a:t>
            </a:r>
            <a:r>
              <a:rPr lang="en-US" dirty="0"/>
              <a:t> de </a:t>
            </a:r>
            <a:r>
              <a:rPr lang="en-US" dirty="0" err="1"/>
              <a:t>consimțământ</a:t>
            </a:r>
            <a:r>
              <a:rPr lang="en-US" dirty="0"/>
              <a:t> au o </a:t>
            </a:r>
            <a:r>
              <a:rPr lang="en-US" dirty="0" err="1"/>
              <a:t>eficiență</a:t>
            </a:r>
            <a:r>
              <a:rPr lang="en-US" dirty="0"/>
              <a:t> </a:t>
            </a:r>
            <a:r>
              <a:rPr lang="en-US" dirty="0" err="1"/>
              <a:t>limitată</a:t>
            </a:r>
            <a:r>
              <a:rPr lang="en-US" dirty="0"/>
              <a:t>, </a:t>
            </a:r>
            <a:r>
              <a:rPr lang="en-US" dirty="0" err="1"/>
              <a:t>întrucât</a:t>
            </a:r>
            <a:r>
              <a:rPr lang="en-US" dirty="0"/>
              <a:t> </a:t>
            </a:r>
            <a:r>
              <a:rPr lang="en-US" dirty="0" err="1"/>
              <a:t>acestea</a:t>
            </a:r>
            <a:r>
              <a:rPr lang="en-US" dirty="0"/>
              <a:t> sunt </a:t>
            </a:r>
            <a:r>
              <a:rPr lang="en-US" dirty="0" err="1"/>
              <a:t>adesea</a:t>
            </a:r>
            <a:r>
              <a:rPr lang="en-US" dirty="0"/>
              <a:t> </a:t>
            </a:r>
            <a:r>
              <a:rPr lang="en-US" dirty="0" err="1"/>
              <a:t>concepute</a:t>
            </a:r>
            <a:r>
              <a:rPr lang="en-US" dirty="0"/>
              <a:t> </a:t>
            </a:r>
            <a:r>
              <a:rPr lang="en-US" dirty="0" err="1"/>
              <a:t>pentru</a:t>
            </a:r>
            <a:r>
              <a:rPr lang="en-US" dirty="0"/>
              <a:t> a </a:t>
            </a:r>
            <a:r>
              <a:rPr lang="en-US" dirty="0" err="1"/>
              <a:t>îngreuna</a:t>
            </a:r>
            <a:r>
              <a:rPr lang="en-US" dirty="0"/>
              <a:t> </a:t>
            </a:r>
            <a:r>
              <a:rPr lang="en-US" dirty="0" err="1"/>
              <a:t>selecția</a:t>
            </a:r>
            <a:r>
              <a:rPr lang="en-US" dirty="0"/>
              <a:t>, </a:t>
            </a:r>
            <a:r>
              <a:rPr lang="en-US" dirty="0" err="1"/>
              <a:t>iar</a:t>
            </a:r>
            <a:r>
              <a:rPr lang="en-US" dirty="0"/>
              <a:t> </a:t>
            </a:r>
            <a:r>
              <a:rPr lang="en-US" dirty="0" err="1"/>
              <a:t>unele</a:t>
            </a:r>
            <a:r>
              <a:rPr lang="en-US" dirty="0"/>
              <a:t> site-</a:t>
            </a:r>
            <a:r>
              <a:rPr lang="en-US" dirty="0" err="1"/>
              <a:t>uri</a:t>
            </a:r>
            <a:r>
              <a:rPr lang="en-US" dirty="0"/>
              <a:t> nu </a:t>
            </a:r>
            <a:r>
              <a:rPr lang="en-US" dirty="0" err="1"/>
              <a:t>respectă</a:t>
            </a:r>
            <a:r>
              <a:rPr lang="en-US" dirty="0"/>
              <a:t> </a:t>
            </a:r>
            <a:r>
              <a:rPr lang="en-US" dirty="0" err="1"/>
              <a:t>preferințele</a:t>
            </a:r>
            <a:r>
              <a:rPr lang="en-US" dirty="0"/>
              <a:t> </a:t>
            </a:r>
            <a:r>
              <a:rPr lang="en-US" dirty="0" err="1"/>
              <a:t>utilizatorilor</a:t>
            </a:r>
            <a:r>
              <a:rPr lang="en-US" dirty="0"/>
              <a:t>.</a:t>
            </a:r>
          </a:p>
          <a:p>
            <a:r>
              <a:rPr lang="en-US" dirty="0" err="1"/>
              <a:t>Soluția</a:t>
            </a:r>
            <a:r>
              <a:rPr lang="en-US" dirty="0"/>
              <a:t> </a:t>
            </a:r>
            <a:r>
              <a:rPr lang="en-US" dirty="0" err="1"/>
              <a:t>propusă</a:t>
            </a:r>
            <a:r>
              <a:rPr lang="en-US" dirty="0"/>
              <a:t> </a:t>
            </a:r>
            <a:r>
              <a:rPr lang="en-US" dirty="0" err="1"/>
              <a:t>elimină</a:t>
            </a:r>
            <a:r>
              <a:rPr lang="en-US" dirty="0"/>
              <a:t> </a:t>
            </a:r>
            <a:r>
              <a:rPr lang="en-US" dirty="0" err="1"/>
              <a:t>dependența</a:t>
            </a:r>
            <a:r>
              <a:rPr lang="en-US" dirty="0"/>
              <a:t> de </a:t>
            </a:r>
            <a:r>
              <a:rPr lang="en-US" dirty="0" err="1"/>
              <a:t>aceste</a:t>
            </a:r>
            <a:r>
              <a:rPr lang="en-US" dirty="0"/>
              <a:t> </a:t>
            </a:r>
            <a:r>
              <a:rPr lang="en-US" dirty="0" err="1"/>
              <a:t>bannere</a:t>
            </a:r>
            <a:r>
              <a:rPr lang="en-US" dirty="0"/>
              <a:t>, </a:t>
            </a:r>
            <a:r>
              <a:rPr lang="en-US" dirty="0" err="1"/>
              <a:t>permițând</a:t>
            </a:r>
            <a:r>
              <a:rPr lang="en-US" dirty="0"/>
              <a:t> </a:t>
            </a:r>
            <a:r>
              <a:rPr lang="en-US" dirty="0" err="1"/>
              <a:t>exclusiv</a:t>
            </a:r>
            <a:r>
              <a:rPr lang="en-US" dirty="0"/>
              <a:t> cookie-urile strict </a:t>
            </a:r>
            <a:r>
              <a:rPr lang="en-US" dirty="0" err="1"/>
              <a:t>necesare</a:t>
            </a:r>
            <a:r>
              <a:rPr lang="en-US" dirty="0"/>
              <a:t> </a:t>
            </a:r>
            <a:r>
              <a:rPr lang="en-US" dirty="0" err="1"/>
              <a:t>și</a:t>
            </a:r>
            <a:r>
              <a:rPr lang="en-US" dirty="0"/>
              <a:t> </a:t>
            </a:r>
            <a:r>
              <a:rPr lang="en-US" dirty="0" err="1"/>
              <a:t>blocând</a:t>
            </a:r>
            <a:r>
              <a:rPr lang="en-US" dirty="0"/>
              <a:t> automat </a:t>
            </a:r>
            <a:r>
              <a:rPr lang="en-US" dirty="0" err="1"/>
              <a:t>restul</a:t>
            </a:r>
            <a:r>
              <a:rPr lang="en-US" dirty="0"/>
              <a:t>, </a:t>
            </a:r>
            <a:r>
              <a:rPr lang="en-US" dirty="0" err="1"/>
              <a:t>indiferent</a:t>
            </a:r>
            <a:r>
              <a:rPr lang="en-US" dirty="0"/>
              <a:t> de </a:t>
            </a:r>
            <a:r>
              <a:rPr lang="en-US" dirty="0" err="1"/>
              <a:t>opțiunile</a:t>
            </a:r>
            <a:r>
              <a:rPr lang="en-US" dirty="0"/>
              <a:t> </a:t>
            </a:r>
            <a:r>
              <a:rPr lang="en-US" dirty="0" err="1"/>
              <a:t>selectate</a:t>
            </a:r>
            <a:r>
              <a:rPr lang="en-US" dirty="0"/>
              <a:t> la </a:t>
            </a:r>
            <a:r>
              <a:rPr lang="en-US" dirty="0" err="1"/>
              <a:t>nivelul</a:t>
            </a:r>
            <a:r>
              <a:rPr lang="en-US" dirty="0"/>
              <a:t> site-</a:t>
            </a:r>
            <a:r>
              <a:rPr lang="en-US" dirty="0" err="1"/>
              <a:t>ului</a:t>
            </a:r>
            <a:r>
              <a:rPr lang="en-US" dirty="0"/>
              <a:t>.</a:t>
            </a:r>
          </a:p>
        </p:txBody>
      </p:sp>
    </p:spTree>
    <p:extLst>
      <p:ext uri="{BB962C8B-B14F-4D97-AF65-F5344CB8AC3E}">
        <p14:creationId xmlns:p14="http://schemas.microsoft.com/office/powerpoint/2010/main" val="1792393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892C-18C3-A2FC-1AC2-DE6DA8B756B5}"/>
              </a:ext>
            </a:extLst>
          </p:cNvPr>
          <p:cNvSpPr>
            <a:spLocks noGrp="1"/>
          </p:cNvSpPr>
          <p:nvPr>
            <p:ph type="title"/>
          </p:nvPr>
        </p:nvSpPr>
        <p:spPr/>
        <p:txBody>
          <a:bodyPr/>
          <a:lstStyle/>
          <a:p>
            <a:r>
              <a:rPr lang="ro-RO" dirty="0"/>
              <a:t>Data Gathering</a:t>
            </a:r>
            <a:endParaRPr lang="en-US" dirty="0"/>
          </a:p>
        </p:txBody>
      </p:sp>
      <p:sp>
        <p:nvSpPr>
          <p:cNvPr id="3" name="Content Placeholder 2">
            <a:extLst>
              <a:ext uri="{FF2B5EF4-FFF2-40B4-BE49-F238E27FC236}">
                <a16:creationId xmlns:a16="http://schemas.microsoft.com/office/drawing/2014/main" id="{BE4D4825-B148-E7A2-8340-1C80DD44BF52}"/>
              </a:ext>
            </a:extLst>
          </p:cNvPr>
          <p:cNvSpPr>
            <a:spLocks noGrp="1"/>
          </p:cNvSpPr>
          <p:nvPr>
            <p:ph idx="1"/>
          </p:nvPr>
        </p:nvSpPr>
        <p:spPr>
          <a:xfrm>
            <a:off x="677334" y="1930400"/>
            <a:ext cx="8596668" cy="3880773"/>
          </a:xfrm>
        </p:spPr>
        <p:txBody>
          <a:bodyPr/>
          <a:lstStyle/>
          <a:p>
            <a:r>
              <a:rPr lang="ro-RO" dirty="0"/>
              <a:t>Datele au fost colectate prin web scraping de la patru furnizori de CMP (Consent Management Platforms). Aceste platforme asigură conformitatea site-urilor cu reglementările GDPR, iar funcția lor de scanare permite extragerea cookie-urilor dintr-o bază de date ce reprezintă un ground truth pentru antrenarea modelelor. Procesul, fiind lent, a fost paralelizat pe multiple thread-uri și utilizând containere Docker pe mai multe calculatoare, pentru a acoperi un număr cât mai mare de site-uri. Acestea au fost selectate dintre primele 100.000 cele mai vizitate (conform unui ranking propriu, bazat pe accesibilitatea domeniilor, excluzând cele DNS folosite pentru reclame sau inaccesibile utilizatorilor). Astfel, cookie-urile extrase sunt relevante, iar expunerea prealabilă a modelelor la aceste date îmbunătățește substanțial precizia predicțiilor pe site-uri frecvent accesate de utilizatori.</a:t>
            </a:r>
            <a:endParaRPr lang="en-US" dirty="0"/>
          </a:p>
        </p:txBody>
      </p:sp>
    </p:spTree>
    <p:extLst>
      <p:ext uri="{BB962C8B-B14F-4D97-AF65-F5344CB8AC3E}">
        <p14:creationId xmlns:p14="http://schemas.microsoft.com/office/powerpoint/2010/main" val="4287781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E2877-1CD7-DAC1-C84C-9FB856A59238}"/>
              </a:ext>
            </a:extLst>
          </p:cNvPr>
          <p:cNvSpPr>
            <a:spLocks noGrp="1"/>
          </p:cNvSpPr>
          <p:nvPr>
            <p:ph type="title"/>
          </p:nvPr>
        </p:nvSpPr>
        <p:spPr/>
        <p:txBody>
          <a:bodyPr/>
          <a:lstStyle/>
          <a:p>
            <a:r>
              <a:rPr lang="ro-RO" dirty="0"/>
              <a:t>Data Distribution</a:t>
            </a:r>
            <a:endParaRPr lang="en-US" dirty="0"/>
          </a:p>
        </p:txBody>
      </p:sp>
      <p:pic>
        <p:nvPicPr>
          <p:cNvPr id="5" name="Content Placeholder 4">
            <a:extLst>
              <a:ext uri="{FF2B5EF4-FFF2-40B4-BE49-F238E27FC236}">
                <a16:creationId xmlns:a16="http://schemas.microsoft.com/office/drawing/2014/main" id="{DC2734F6-9E4B-1E80-B964-9EB730D042A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934" y="1640264"/>
            <a:ext cx="8803522" cy="4732256"/>
          </a:xfrm>
          <a:prstGeom prst="rect">
            <a:avLst/>
          </a:prstGeom>
        </p:spPr>
      </p:pic>
    </p:spTree>
    <p:extLst>
      <p:ext uri="{BB962C8B-B14F-4D97-AF65-F5344CB8AC3E}">
        <p14:creationId xmlns:p14="http://schemas.microsoft.com/office/powerpoint/2010/main" val="3781320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7AA154-BC54-0A89-72B0-B47437A692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1000"/>
            <a:ext cx="12192000" cy="6096000"/>
          </a:xfrm>
          <a:prstGeom prst="rect">
            <a:avLst/>
          </a:prstGeom>
        </p:spPr>
      </p:pic>
    </p:spTree>
    <p:extLst>
      <p:ext uri="{BB962C8B-B14F-4D97-AF65-F5344CB8AC3E}">
        <p14:creationId xmlns:p14="http://schemas.microsoft.com/office/powerpoint/2010/main" val="290100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B027DA-AFE5-0283-B133-C4EC5B4845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0999"/>
            <a:ext cx="12192000" cy="6096001"/>
          </a:xfrm>
          <a:prstGeom prst="rect">
            <a:avLst/>
          </a:prstGeom>
        </p:spPr>
      </p:pic>
    </p:spTree>
    <p:extLst>
      <p:ext uri="{BB962C8B-B14F-4D97-AF65-F5344CB8AC3E}">
        <p14:creationId xmlns:p14="http://schemas.microsoft.com/office/powerpoint/2010/main" val="1788863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FF227-D336-FDE7-459E-7FDD6DA00ADC}"/>
              </a:ext>
            </a:extLst>
          </p:cNvPr>
          <p:cNvSpPr>
            <a:spLocks noGrp="1"/>
          </p:cNvSpPr>
          <p:nvPr>
            <p:ph type="title"/>
          </p:nvPr>
        </p:nvSpPr>
        <p:spPr/>
        <p:txBody>
          <a:bodyPr/>
          <a:lstStyle/>
          <a:p>
            <a:r>
              <a:rPr lang="ro-RO" dirty="0"/>
              <a:t>Machine Learning Models</a:t>
            </a:r>
            <a:endParaRPr lang="en-US" dirty="0"/>
          </a:p>
        </p:txBody>
      </p:sp>
      <p:sp>
        <p:nvSpPr>
          <p:cNvPr id="3" name="Content Placeholder 2">
            <a:extLst>
              <a:ext uri="{FF2B5EF4-FFF2-40B4-BE49-F238E27FC236}">
                <a16:creationId xmlns:a16="http://schemas.microsoft.com/office/drawing/2014/main" id="{07063710-0A84-5F4B-9D16-7C2B71851001}"/>
              </a:ext>
            </a:extLst>
          </p:cNvPr>
          <p:cNvSpPr>
            <a:spLocks noGrp="1"/>
          </p:cNvSpPr>
          <p:nvPr>
            <p:ph idx="1"/>
          </p:nvPr>
        </p:nvSpPr>
        <p:spPr/>
        <p:txBody>
          <a:bodyPr/>
          <a:lstStyle/>
          <a:p>
            <a:r>
              <a:rPr lang="ro-RO" dirty="0"/>
              <a:t>Am implementat 27 de modele, 24 din librăria sklearn, 3 separate (catboost, lightgbm si xgboost).</a:t>
            </a:r>
            <a:endParaRPr lang="en-US" dirty="0"/>
          </a:p>
          <a:p>
            <a:endParaRPr lang="en-US" dirty="0"/>
          </a:p>
          <a:p>
            <a:r>
              <a:rPr lang="ro-RO" dirty="0"/>
              <a:t>În următorul slide sunt enumerate modelele antrenate până acum împreună cu acuratetea lor medie actuală (nu este inclusă  momentan acuratețea F1 care este importantă în acest caz având în vedere imbalansul dintre clase). Aceste date nu mai sunt actuale, dar cum nu a fost terminată îmbunătățirea și testarea tuturor modelelor încă nu au fost reînnoite (în prezent toate modelele au o acuratețe de peste 95%)</a:t>
            </a:r>
            <a:endParaRPr lang="en-US" dirty="0"/>
          </a:p>
        </p:txBody>
      </p:sp>
    </p:spTree>
    <p:extLst>
      <p:ext uri="{BB962C8B-B14F-4D97-AF65-F5344CB8AC3E}">
        <p14:creationId xmlns:p14="http://schemas.microsoft.com/office/powerpoint/2010/main" val="3641934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6E94C5-3FC9-8753-B892-35AC7C3FC1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70199" cy="6858000"/>
          </a:xfrm>
          <a:prstGeom prst="rect">
            <a:avLst/>
          </a:prstGeom>
        </p:spPr>
      </p:pic>
    </p:spTree>
    <p:extLst>
      <p:ext uri="{BB962C8B-B14F-4D97-AF65-F5344CB8AC3E}">
        <p14:creationId xmlns:p14="http://schemas.microsoft.com/office/powerpoint/2010/main" val="387974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4A3B8-7415-E4A3-D53A-A5E17541062D}"/>
              </a:ext>
            </a:extLst>
          </p:cNvPr>
          <p:cNvSpPr>
            <a:spLocks noGrp="1"/>
          </p:cNvSpPr>
          <p:nvPr>
            <p:ph type="title"/>
          </p:nvPr>
        </p:nvSpPr>
        <p:spPr/>
        <p:txBody>
          <a:bodyPr/>
          <a:lstStyle/>
          <a:p>
            <a:r>
              <a:rPr lang="ro-RO" dirty="0"/>
              <a:t>Rezultate</a:t>
            </a:r>
            <a:endParaRPr lang="en-US" dirty="0"/>
          </a:p>
        </p:txBody>
      </p:sp>
      <p:sp>
        <p:nvSpPr>
          <p:cNvPr id="3" name="Content Placeholder 2">
            <a:extLst>
              <a:ext uri="{FF2B5EF4-FFF2-40B4-BE49-F238E27FC236}">
                <a16:creationId xmlns:a16="http://schemas.microsoft.com/office/drawing/2014/main" id="{69616F02-7BBD-F191-D571-7995F7FF9819}"/>
              </a:ext>
            </a:extLst>
          </p:cNvPr>
          <p:cNvSpPr>
            <a:spLocks noGrp="1"/>
          </p:cNvSpPr>
          <p:nvPr>
            <p:ph idx="1"/>
          </p:nvPr>
        </p:nvSpPr>
        <p:spPr/>
        <p:txBody>
          <a:bodyPr/>
          <a:lstStyle/>
          <a:p>
            <a:r>
              <a:rPr lang="ro-RO" dirty="0"/>
              <a:t>Conform tabelului precedent modelul cel mai bun este MLP Classifier cu o acuratețe medie de 9</a:t>
            </a:r>
            <a:r>
              <a:rPr lang="en-US" dirty="0"/>
              <a:t>9.12</a:t>
            </a:r>
            <a:r>
              <a:rPr lang="ro-RO" dirty="0"/>
              <a:t>% și scor F1 de 9</a:t>
            </a:r>
            <a:r>
              <a:rPr lang="en-US" dirty="0"/>
              <a:t>8.08</a:t>
            </a:r>
            <a:r>
              <a:rPr lang="ro-RO" dirty="0"/>
              <a:t>%</a:t>
            </a:r>
          </a:p>
          <a:p>
            <a:r>
              <a:rPr lang="ro-RO" dirty="0"/>
              <a:t>Acuratețea per categorie este pentru MLP este: </a:t>
            </a:r>
          </a:p>
          <a:p>
            <a:endParaRPr lang="ro-RO" dirty="0"/>
          </a:p>
          <a:p>
            <a:endParaRPr lang="ro-RO" dirty="0"/>
          </a:p>
          <a:p>
            <a:endParaRPr lang="ro-RO" dirty="0"/>
          </a:p>
          <a:p>
            <a:endParaRPr lang="ro-RO" dirty="0"/>
          </a:p>
          <a:p>
            <a:endParaRPr lang="ro-RO" dirty="0"/>
          </a:p>
          <a:p>
            <a:r>
              <a:rPr lang="ro-RO" dirty="0"/>
              <a:t>Mai jos este o matrice de confuzie relevantă pentru analiza rezultatelor</a:t>
            </a:r>
            <a:endParaRPr lang="en-US" dirty="0"/>
          </a:p>
        </p:txBody>
      </p:sp>
      <p:graphicFrame>
        <p:nvGraphicFramePr>
          <p:cNvPr id="4" name="Table 3">
            <a:extLst>
              <a:ext uri="{FF2B5EF4-FFF2-40B4-BE49-F238E27FC236}">
                <a16:creationId xmlns:a16="http://schemas.microsoft.com/office/drawing/2014/main" id="{930FFE0A-12A1-24E4-85E9-A05E08B1CD6A}"/>
              </a:ext>
            </a:extLst>
          </p:cNvPr>
          <p:cNvGraphicFramePr>
            <a:graphicFrameLocks noGrp="1"/>
          </p:cNvGraphicFramePr>
          <p:nvPr>
            <p:extLst>
              <p:ext uri="{D42A27DB-BD31-4B8C-83A1-F6EECF244321}">
                <p14:modId xmlns:p14="http://schemas.microsoft.com/office/powerpoint/2010/main" val="2173731604"/>
              </p:ext>
            </p:extLst>
          </p:nvPr>
        </p:nvGraphicFramePr>
        <p:xfrm>
          <a:off x="1023331" y="3359295"/>
          <a:ext cx="8127999" cy="1483360"/>
        </p:xfrm>
        <a:graphic>
          <a:graphicData uri="http://schemas.openxmlformats.org/drawingml/2006/table">
            <a:tbl>
              <a:tblPr firstRow="1" bandRow="1">
                <a:tableStyleId>{073A0DAA-6AF3-43AB-8588-CEC1D06C72B9}</a:tableStyleId>
              </a:tblPr>
              <a:tblGrid>
                <a:gridCol w="2709333">
                  <a:extLst>
                    <a:ext uri="{9D8B030D-6E8A-4147-A177-3AD203B41FA5}">
                      <a16:colId xmlns:a16="http://schemas.microsoft.com/office/drawing/2014/main" val="326820569"/>
                    </a:ext>
                  </a:extLst>
                </a:gridCol>
                <a:gridCol w="2709333">
                  <a:extLst>
                    <a:ext uri="{9D8B030D-6E8A-4147-A177-3AD203B41FA5}">
                      <a16:colId xmlns:a16="http://schemas.microsoft.com/office/drawing/2014/main" val="232017435"/>
                    </a:ext>
                  </a:extLst>
                </a:gridCol>
                <a:gridCol w="2709333">
                  <a:extLst>
                    <a:ext uri="{9D8B030D-6E8A-4147-A177-3AD203B41FA5}">
                      <a16:colId xmlns:a16="http://schemas.microsoft.com/office/drawing/2014/main" val="3785714564"/>
                    </a:ext>
                  </a:extLst>
                </a:gridCol>
              </a:tblGrid>
              <a:tr h="370840">
                <a:tc>
                  <a:txBody>
                    <a:bodyPr/>
                    <a:lstStyle/>
                    <a:p>
                      <a:r>
                        <a:rPr lang="ro-RO" dirty="0"/>
                        <a:t>Marketing</a:t>
                      </a:r>
                      <a:endParaRPr lang="en-US" dirty="0"/>
                    </a:p>
                  </a:txBody>
                  <a:tcPr/>
                </a:tc>
                <a:tc>
                  <a:txBody>
                    <a:bodyPr/>
                    <a:lstStyle/>
                    <a:p>
                      <a:r>
                        <a:rPr lang="en-US" sz="1800" b="0" kern="1200" dirty="0">
                          <a:solidFill>
                            <a:schemeClr val="lt1"/>
                          </a:solidFill>
                          <a:effectLst/>
                          <a:latin typeface="+mn-lt"/>
                          <a:ea typeface="+mn-ea"/>
                          <a:cs typeface="+mn-cs"/>
                        </a:rPr>
                        <a:t>35077/35341</a:t>
                      </a:r>
                    </a:p>
                  </a:txBody>
                  <a:tcPr/>
                </a:tc>
                <a:tc>
                  <a:txBody>
                    <a:bodyPr/>
                    <a:lstStyle/>
                    <a:p>
                      <a:r>
                        <a:rPr lang="ro-RO" dirty="0"/>
                        <a:t>99.</a:t>
                      </a:r>
                      <a:r>
                        <a:rPr lang="en-US" dirty="0"/>
                        <a:t>25</a:t>
                      </a:r>
                      <a:r>
                        <a:rPr lang="ro-RO" dirty="0"/>
                        <a:t>%</a:t>
                      </a:r>
                      <a:endParaRPr lang="en-US" dirty="0"/>
                    </a:p>
                  </a:txBody>
                  <a:tcPr/>
                </a:tc>
                <a:extLst>
                  <a:ext uri="{0D108BD9-81ED-4DB2-BD59-A6C34878D82A}">
                    <a16:rowId xmlns:a16="http://schemas.microsoft.com/office/drawing/2014/main" val="2918153591"/>
                  </a:ext>
                </a:extLst>
              </a:tr>
              <a:tr h="370840">
                <a:tc>
                  <a:txBody>
                    <a:bodyPr/>
                    <a:lstStyle/>
                    <a:p>
                      <a:r>
                        <a:rPr lang="ro-RO" dirty="0"/>
                        <a:t>Necessary</a:t>
                      </a:r>
                      <a:endParaRPr lang="en-US" dirty="0"/>
                    </a:p>
                  </a:txBody>
                  <a:tcPr/>
                </a:tc>
                <a:tc>
                  <a:txBody>
                    <a:bodyPr/>
                    <a:lstStyle/>
                    <a:p>
                      <a:r>
                        <a:rPr lang="en-US" sz="1800" b="0" kern="1200" dirty="0">
                          <a:solidFill>
                            <a:schemeClr val="dk1"/>
                          </a:solidFill>
                          <a:effectLst/>
                          <a:latin typeface="+mn-lt"/>
                          <a:ea typeface="+mn-ea"/>
                          <a:cs typeface="+mn-cs"/>
                        </a:rPr>
                        <a:t>7224/7360</a:t>
                      </a:r>
                    </a:p>
                  </a:txBody>
                  <a:tcPr/>
                </a:tc>
                <a:tc>
                  <a:txBody>
                    <a:bodyPr/>
                    <a:lstStyle/>
                    <a:p>
                      <a:r>
                        <a:rPr lang="ro-RO" dirty="0"/>
                        <a:t>9</a:t>
                      </a:r>
                      <a:r>
                        <a:rPr lang="en-US" dirty="0"/>
                        <a:t>8.15</a:t>
                      </a:r>
                      <a:r>
                        <a:rPr lang="ro-RO" dirty="0"/>
                        <a:t>%</a:t>
                      </a:r>
                      <a:endParaRPr lang="en-US" dirty="0"/>
                    </a:p>
                  </a:txBody>
                  <a:tcPr/>
                </a:tc>
                <a:extLst>
                  <a:ext uri="{0D108BD9-81ED-4DB2-BD59-A6C34878D82A}">
                    <a16:rowId xmlns:a16="http://schemas.microsoft.com/office/drawing/2014/main" val="3563290569"/>
                  </a:ext>
                </a:extLst>
              </a:tr>
              <a:tr h="370840">
                <a:tc>
                  <a:txBody>
                    <a:bodyPr/>
                    <a:lstStyle/>
                    <a:p>
                      <a:r>
                        <a:rPr lang="ro-RO" dirty="0"/>
                        <a:t>Preferences</a:t>
                      </a:r>
                      <a:endParaRPr lang="en-US" dirty="0"/>
                    </a:p>
                  </a:txBody>
                  <a:tcPr/>
                </a:tc>
                <a:tc>
                  <a:txBody>
                    <a:bodyPr/>
                    <a:lstStyle/>
                    <a:p>
                      <a:r>
                        <a:rPr lang="en-US" sz="1800" b="0" kern="1200" dirty="0">
                          <a:solidFill>
                            <a:schemeClr val="dk1"/>
                          </a:solidFill>
                          <a:effectLst/>
                          <a:latin typeface="+mn-lt"/>
                          <a:ea typeface="+mn-ea"/>
                          <a:cs typeface="+mn-cs"/>
                        </a:rPr>
                        <a:t>2266/2378</a:t>
                      </a:r>
                    </a:p>
                  </a:txBody>
                  <a:tcPr/>
                </a:tc>
                <a:tc>
                  <a:txBody>
                    <a:bodyPr/>
                    <a:lstStyle/>
                    <a:p>
                      <a:r>
                        <a:rPr lang="ro-RO" dirty="0"/>
                        <a:t>9</a:t>
                      </a:r>
                      <a:r>
                        <a:rPr lang="en-US" dirty="0"/>
                        <a:t>5.29</a:t>
                      </a:r>
                      <a:r>
                        <a:rPr lang="ro-RO" dirty="0"/>
                        <a:t>%</a:t>
                      </a:r>
                      <a:endParaRPr lang="en-US" dirty="0"/>
                    </a:p>
                  </a:txBody>
                  <a:tcPr/>
                </a:tc>
                <a:extLst>
                  <a:ext uri="{0D108BD9-81ED-4DB2-BD59-A6C34878D82A}">
                    <a16:rowId xmlns:a16="http://schemas.microsoft.com/office/drawing/2014/main" val="766988867"/>
                  </a:ext>
                </a:extLst>
              </a:tr>
              <a:tr h="370840">
                <a:tc>
                  <a:txBody>
                    <a:bodyPr/>
                    <a:lstStyle/>
                    <a:p>
                      <a:r>
                        <a:rPr lang="ro-RO" dirty="0"/>
                        <a:t>Statistics</a:t>
                      </a:r>
                      <a:endParaRPr lang="en-US" dirty="0"/>
                    </a:p>
                  </a:txBody>
                  <a:tcPr/>
                </a:tc>
                <a:tc>
                  <a:txBody>
                    <a:bodyPr/>
                    <a:lstStyle/>
                    <a:p>
                      <a:r>
                        <a:rPr lang="en-US" sz="1800" b="0" kern="1200" dirty="0">
                          <a:solidFill>
                            <a:schemeClr val="dk1"/>
                          </a:solidFill>
                          <a:effectLst/>
                          <a:latin typeface="+mn-lt"/>
                          <a:ea typeface="+mn-ea"/>
                          <a:cs typeface="+mn-cs"/>
                        </a:rPr>
                        <a:t>42426/42683</a:t>
                      </a:r>
                    </a:p>
                  </a:txBody>
                  <a:tcPr/>
                </a:tc>
                <a:tc>
                  <a:txBody>
                    <a:bodyPr/>
                    <a:lstStyle/>
                    <a:p>
                      <a:r>
                        <a:rPr lang="ro-RO" dirty="0"/>
                        <a:t>99.</a:t>
                      </a:r>
                      <a:r>
                        <a:rPr lang="en-US" dirty="0"/>
                        <a:t>40</a:t>
                      </a:r>
                      <a:r>
                        <a:rPr lang="ro-RO" dirty="0"/>
                        <a:t>%</a:t>
                      </a:r>
                      <a:endParaRPr lang="en-US" dirty="0"/>
                    </a:p>
                  </a:txBody>
                  <a:tcPr/>
                </a:tc>
                <a:extLst>
                  <a:ext uri="{0D108BD9-81ED-4DB2-BD59-A6C34878D82A}">
                    <a16:rowId xmlns:a16="http://schemas.microsoft.com/office/drawing/2014/main" val="3004839616"/>
                  </a:ext>
                </a:extLst>
              </a:tr>
            </a:tbl>
          </a:graphicData>
        </a:graphic>
      </p:graphicFrame>
    </p:spTree>
    <p:extLst>
      <p:ext uri="{BB962C8B-B14F-4D97-AF65-F5344CB8AC3E}">
        <p14:creationId xmlns:p14="http://schemas.microsoft.com/office/powerpoint/2010/main" val="368475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300F8B-02FC-7D5A-AD29-073494753C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572499" cy="6858000"/>
          </a:xfrm>
          <a:prstGeom prst="rect">
            <a:avLst/>
          </a:prstGeom>
        </p:spPr>
      </p:pic>
    </p:spTree>
    <p:extLst>
      <p:ext uri="{BB962C8B-B14F-4D97-AF65-F5344CB8AC3E}">
        <p14:creationId xmlns:p14="http://schemas.microsoft.com/office/powerpoint/2010/main" val="246443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6819F-D1D7-A035-566A-A84A52F43B8B}"/>
              </a:ext>
            </a:extLst>
          </p:cNvPr>
          <p:cNvSpPr>
            <a:spLocks noGrp="1"/>
          </p:cNvSpPr>
          <p:nvPr>
            <p:ph type="title"/>
          </p:nvPr>
        </p:nvSpPr>
        <p:spPr/>
        <p:txBody>
          <a:bodyPr/>
          <a:lstStyle/>
          <a:p>
            <a:r>
              <a:rPr lang="ro-RO" dirty="0"/>
              <a:t>Concluzii și îmbunătățiri</a:t>
            </a:r>
            <a:endParaRPr lang="en-US" dirty="0"/>
          </a:p>
        </p:txBody>
      </p:sp>
      <p:sp>
        <p:nvSpPr>
          <p:cNvPr id="3" name="Content Placeholder 2">
            <a:extLst>
              <a:ext uri="{FF2B5EF4-FFF2-40B4-BE49-F238E27FC236}">
                <a16:creationId xmlns:a16="http://schemas.microsoft.com/office/drawing/2014/main" id="{E1608426-2DB7-4B4A-4A69-E01E5E7A5989}"/>
              </a:ext>
            </a:extLst>
          </p:cNvPr>
          <p:cNvSpPr>
            <a:spLocks noGrp="1"/>
          </p:cNvSpPr>
          <p:nvPr>
            <p:ph idx="1"/>
          </p:nvPr>
        </p:nvSpPr>
        <p:spPr/>
        <p:txBody>
          <a:bodyPr/>
          <a:lstStyle/>
          <a:p>
            <a:r>
              <a:rPr lang="ro-RO" dirty="0"/>
              <a:t>Conform matricei de </a:t>
            </a:r>
            <a:r>
              <a:rPr lang="ro-RO"/>
              <a:t>confuzie a MLP-ului clasa </a:t>
            </a:r>
            <a:r>
              <a:rPr lang="ro-RO" dirty="0"/>
              <a:t>cu cea mai mică acuratețe este preferences, urmată de necessary. Acest lucru este dat de numărul mic de exemple din fiecare clasă comparativ cu restul. Acest lucru deja a deja parțial rezolvat prin adăugarea manuală și/sau automată de greutăți claselor.</a:t>
            </a:r>
          </a:p>
          <a:p>
            <a:endParaRPr lang="ro-RO" dirty="0"/>
          </a:p>
          <a:p>
            <a:r>
              <a:rPr lang="ro-RO" dirty="0"/>
              <a:t>MLP Classifier este cel mai bun model actual cu o acuratețe</a:t>
            </a:r>
            <a:r>
              <a:rPr lang="en-US" dirty="0"/>
              <a:t> </a:t>
            </a:r>
            <a:r>
              <a:rPr lang="en-US" dirty="0" err="1"/>
              <a:t>medie</a:t>
            </a:r>
            <a:r>
              <a:rPr lang="ro-RO" dirty="0"/>
              <a:t> de 9</a:t>
            </a:r>
            <a:r>
              <a:rPr lang="en-US" dirty="0"/>
              <a:t>9.12</a:t>
            </a:r>
            <a:r>
              <a:rPr lang="ro-RO" dirty="0"/>
              <a:t>% însă se poate îmbunătăți prin mai multe date de antrenare sau implementând corect un Voting Classifier care să includă MLP-ul actual și 2 clasificatori binari care să se axeze doar pe cookie-uri necesare și preferențiale dat fiind imbalansul din clase.</a:t>
            </a:r>
          </a:p>
          <a:p>
            <a:endParaRPr lang="en-US" dirty="0"/>
          </a:p>
        </p:txBody>
      </p:sp>
    </p:spTree>
    <p:extLst>
      <p:ext uri="{BB962C8B-B14F-4D97-AF65-F5344CB8AC3E}">
        <p14:creationId xmlns:p14="http://schemas.microsoft.com/office/powerpoint/2010/main" val="1848391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D76FE-8BE3-641F-C907-E18A997659DA}"/>
              </a:ext>
            </a:extLst>
          </p:cNvPr>
          <p:cNvSpPr>
            <a:spLocks noGrp="1"/>
          </p:cNvSpPr>
          <p:nvPr>
            <p:ph type="title"/>
          </p:nvPr>
        </p:nvSpPr>
        <p:spPr>
          <a:xfrm>
            <a:off x="564213" y="2692924"/>
            <a:ext cx="8596668" cy="1320800"/>
          </a:xfrm>
        </p:spPr>
        <p:txBody>
          <a:bodyPr/>
          <a:lstStyle/>
          <a:p>
            <a:r>
              <a:rPr lang="ro-RO" dirty="0"/>
              <a:t>Mulțumesc pentru atenția acordată!</a:t>
            </a:r>
            <a:endParaRPr lang="en-US" dirty="0"/>
          </a:p>
        </p:txBody>
      </p:sp>
    </p:spTree>
    <p:extLst>
      <p:ext uri="{BB962C8B-B14F-4D97-AF65-F5344CB8AC3E}">
        <p14:creationId xmlns:p14="http://schemas.microsoft.com/office/powerpoint/2010/main" val="101987395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495</TotalTime>
  <Words>1515</Words>
  <Application>Microsoft Office PowerPoint</Application>
  <PresentationFormat>Widescreen</PresentationFormat>
  <Paragraphs>67</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Trebuchet MS</vt:lpstr>
      <vt:lpstr>Wingdings 3</vt:lpstr>
      <vt:lpstr>Facet</vt:lpstr>
      <vt:lpstr>AI Cookie Classifier</vt:lpstr>
      <vt:lpstr>Prezentare MidTerm</vt:lpstr>
      <vt:lpstr>Necesitatea clasificării și blocării cookie-urilor </vt:lpstr>
      <vt:lpstr>PowerPoint Presentation</vt:lpstr>
      <vt:lpstr>PowerPoint Presentation</vt:lpstr>
      <vt:lpstr>Scopul Proiectului</vt:lpstr>
      <vt:lpstr>Cercetari anterioare</vt:lpstr>
      <vt:lpstr>De ce Machine Learning pentru a clasifica cookie-uri ? </vt:lpstr>
      <vt:lpstr>Data Gathering</vt:lpstr>
      <vt:lpstr>Data Distribution</vt:lpstr>
      <vt:lpstr>PowerPoint Presentation</vt:lpstr>
      <vt:lpstr>PowerPoint Presentation</vt:lpstr>
      <vt:lpstr>Machine Learning Models</vt:lpstr>
      <vt:lpstr>PowerPoint Presentation</vt:lpstr>
      <vt:lpstr>Rezultate</vt:lpstr>
      <vt:lpstr>PowerPoint Presentation</vt:lpstr>
      <vt:lpstr>Concluzii și îmbunătățiri</vt:lpstr>
      <vt:lpstr>Mulțumesc pentru atenția acordată!</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davide perli</dc:creator>
  <cp:lastModifiedBy>davide perli</cp:lastModifiedBy>
  <cp:revision>32</cp:revision>
  <dcterms:created xsi:type="dcterms:W3CDTF">2026-03-24T14:51:27Z</dcterms:created>
  <dcterms:modified xsi:type="dcterms:W3CDTF">2026-05-06T03:07:18Z</dcterms:modified>
</cp:coreProperties>
</file>